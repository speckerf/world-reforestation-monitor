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87" r:id="rId2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548"/>
  </p:normalViewPr>
  <p:slideViewPr>
    <p:cSldViewPr snapToGrid="0">
      <p:cViewPr>
        <p:scale>
          <a:sx n="175" d="100"/>
          <a:sy n="175" d="100"/>
        </p:scale>
        <p:origin x="-5528" y="-2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F036F8-F71A-AB44-B1DB-CD13AAD1D3DB}" type="datetimeFigureOut">
              <a:rPr lang="en-CH" smtClean="0"/>
              <a:t>18.09.2026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1CD77F-894C-2A4B-BD70-3044B5EB5C5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213750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5D9D2-BA43-DC77-2D88-0773BC90B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E57707-2BAB-1701-C96C-05191A4CC1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0A6FD1-79F3-F112-35D5-8445A1DCBB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D5B84-602E-5DDB-835F-1644208245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29ACB2-68FC-7141-B5FB-7C8026665CC4}" type="slidenum">
              <a:rPr lang="en-CH" smtClean="0"/>
              <a:t>1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766326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43704-22FE-11B2-04EB-0041CB3A80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162308-D5C7-1205-4E26-453910A839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D4D7E-4AB7-09BA-8C89-C68B0444D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0D33-9AC4-2449-ABB5-01686A3840D3}" type="datetimeFigureOut">
              <a:rPr lang="en-CH" smtClean="0"/>
              <a:t>18.09.2026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5B81E-F141-D003-403E-022A38DDB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ED54C-4430-42B1-FDD2-4F4D72CF1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3CD0-743F-4C4B-9AE0-D66D259A96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079972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3CF79-E392-9308-9368-DB242F676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741A8-3765-BA70-2D06-5956A13EF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65ACD9-2E76-36E0-FEBC-6653CC7D6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0D33-9AC4-2449-ABB5-01686A3840D3}" type="datetimeFigureOut">
              <a:rPr lang="en-CH" smtClean="0"/>
              <a:t>18.09.2026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ABEB6-4919-8BB1-E7D9-CD0E22B49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0F2D0-7A67-0C5F-5F8A-2D7418891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3CD0-743F-4C4B-9AE0-D66D259A96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70092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2088E-F03F-FC31-3E6B-E58D82490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48CD29-459D-F5AD-8A38-BD9056D6B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546CD-1D8E-5B3A-8459-6BB4BD12A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0D33-9AC4-2449-ABB5-01686A3840D3}" type="datetimeFigureOut">
              <a:rPr lang="en-CH" smtClean="0"/>
              <a:t>18.09.2026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28949-82F9-DF6B-75C2-4D5F88DE7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DED81-AA64-9D58-3265-472313F42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3CD0-743F-4C4B-9AE0-D66D259A96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089393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227A6-6202-9565-E2D3-F7A8DF136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46F57-DBE2-B6F9-AB29-32744DCFC6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419258-5A68-9100-7882-25E8F877FA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CCB67E-DC62-F2D4-94D1-489CF3C25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0D33-9AC4-2449-ABB5-01686A3840D3}" type="datetimeFigureOut">
              <a:rPr lang="en-CH" smtClean="0"/>
              <a:t>18.09.2026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BA3BAD-1FA8-E1F3-2BBB-1801B7E60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2958CA-3662-C89F-5D9F-C691953DC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3CD0-743F-4C4B-9AE0-D66D259A96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70100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515FE-C32E-29E9-B02C-5B0D6B63E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A1932-640B-79A9-DEEF-962F57E25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AE84CE-7342-CB39-9A2C-AB2B16CF2B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421D41-06C8-6A6C-2807-EC068C7450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0876B7-07AD-069F-8979-D549624E9E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AB5D43-4324-5B47-0865-3E46C1DBD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0D33-9AC4-2449-ABB5-01686A3840D3}" type="datetimeFigureOut">
              <a:rPr lang="en-CH" smtClean="0"/>
              <a:t>18.09.2026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897849-FFC8-C7E6-2763-04AC8F416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5DCB44-D4B0-902A-473E-16ED1446D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3CD0-743F-4C4B-9AE0-D66D259A96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50994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5C8D9-1420-9DDA-72C1-D0E2BE732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3F4AB-C6B5-3E72-7498-EF68B1226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0D33-9AC4-2449-ABB5-01686A3840D3}" type="datetimeFigureOut">
              <a:rPr lang="en-CH" smtClean="0"/>
              <a:t>18.09.2026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40CDB8-D85D-B8EA-8D62-25A73F52B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BD723C-B7BC-D9BC-E0C3-BFEDC411D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3CD0-743F-4C4B-9AE0-D66D259A96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253227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B453F1-AC78-B249-7E45-D45B69EC7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0D33-9AC4-2449-ABB5-01686A3840D3}" type="datetimeFigureOut">
              <a:rPr lang="en-CH" smtClean="0"/>
              <a:t>18.09.2026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277D3E-3F69-2A1D-31C5-4D0FF7A42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ADED1-89BC-F809-30CB-5D600D155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3CD0-743F-4C4B-9AE0-D66D259A96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59591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5B91C-E388-DF30-BCD5-EBA40B194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140A2-4964-8096-AA4E-1B39FB29A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435AD6-E08B-A76F-A121-A9D972F7B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7A1B24-86EA-39EC-3A2D-577B27C52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0D33-9AC4-2449-ABB5-01686A3840D3}" type="datetimeFigureOut">
              <a:rPr lang="en-CH" smtClean="0"/>
              <a:t>18.09.2026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7602B-BD35-B6E9-7E15-C4EDF475E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302C2-BA6D-079C-5856-7FA89B345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3CD0-743F-4C4B-9AE0-D66D259A96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05729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B36BD-7534-3054-2393-8CC070FB1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1F3C28-865D-B0AD-3680-235A2BEC2D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BFB58-065E-3AA4-493F-79E26E2996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06B06E-BA64-3390-E83B-20FA44AE1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0D33-9AC4-2449-ABB5-01686A3840D3}" type="datetimeFigureOut">
              <a:rPr lang="en-CH" smtClean="0"/>
              <a:t>18.09.2026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8104A9-A911-4DA1-7F23-51FD096B6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52CD7B-E36D-7075-281B-B3A27CD72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3CD0-743F-4C4B-9AE0-D66D259A96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3910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DDA76-1BC4-4343-1383-F0034FB26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6B4E90-1808-79BF-BF96-56057DE37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2B8D6-9F83-29E5-BD1B-D67C7DFDC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0D33-9AC4-2449-ABB5-01686A3840D3}" type="datetimeFigureOut">
              <a:rPr lang="en-CH" smtClean="0"/>
              <a:t>18.09.2026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82C58-E304-EDC2-8C88-29C90FECD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5011B-BCA7-3E16-BE0D-37CCD87BC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3CD0-743F-4C4B-9AE0-D66D259A96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32984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4130C8-D22E-91A7-2528-3796AFD244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5CE97E-5DCA-DE44-5CD7-67EC9E5AE6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7DD2D6-4C76-7292-F00C-A53C18536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0D33-9AC4-2449-ABB5-01686A3840D3}" type="datetimeFigureOut">
              <a:rPr lang="en-CH" smtClean="0"/>
              <a:t>18.09.2026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973FA-EE5F-2A60-4432-1932B67BF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84EB8-458C-4D96-2679-2C10A6065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3CD0-743F-4C4B-9AE0-D66D259A96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435652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36524F-3571-AC86-2FB0-D4CB99C9D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038C64-E8D8-488F-BA48-104172EA14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7E3D03-6BC2-10D3-73D3-184502A57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AF0D33-9AC4-2449-ABB5-01686A3840D3}" type="datetimeFigureOut">
              <a:rPr lang="en-CH" smtClean="0"/>
              <a:t>18.09.2026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4AD58-1349-AE9F-B44B-33210188AE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8C9FB-651E-D69A-109C-F83B857E7C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A03CD0-743F-4C4B-9AE0-D66D259A96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33814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C5975-047D-FA82-1A2E-43C678336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TextBox 287">
            <a:extLst>
              <a:ext uri="{FF2B5EF4-FFF2-40B4-BE49-F238E27FC236}">
                <a16:creationId xmlns:a16="http://schemas.microsoft.com/office/drawing/2014/main" id="{F3E4CA08-93A5-A2F9-2D2F-E9D48E3CB4F4}"/>
              </a:ext>
            </a:extLst>
          </p:cNvPr>
          <p:cNvSpPr txBox="1"/>
          <p:nvPr/>
        </p:nvSpPr>
        <p:spPr>
          <a:xfrm>
            <a:off x="9814332" y="459210"/>
            <a:ext cx="2403089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800" b="1" dirty="0"/>
              <a:t>Figure 1: </a:t>
            </a:r>
            <a:r>
              <a:rPr lang="en-GB" sz="800" b="1" dirty="0"/>
              <a:t>Overview of Model Training and Prediction Workflow</a:t>
            </a:r>
            <a:endParaRPr lang="en-CH" sz="800" b="1" dirty="0"/>
          </a:p>
          <a:p>
            <a:r>
              <a:rPr lang="en-CH" sz="800" b="1" dirty="0"/>
              <a:t>A </a:t>
            </a:r>
            <a:r>
              <a:rPr lang="en-CH" sz="800" dirty="0"/>
              <a:t>The core of the model training workflow revolves around the iterative optimisation of the parameters involved in a PROSAIL RTM hybrid inversion procedure. First, we defined input trait ranges and distributions (</a:t>
            </a:r>
            <a:r>
              <a:rPr lang="en-CH" sz="800" b="1" dirty="0"/>
              <a:t>A1</a:t>
            </a:r>
            <a:r>
              <a:rPr lang="en-CH" sz="800" dirty="0"/>
              <a:t>)</a:t>
            </a:r>
            <a:r>
              <a:rPr lang="en-GB" sz="800" dirty="0"/>
              <a:t> and then simulated </a:t>
            </a:r>
            <a:r>
              <a:rPr lang="en-GB" sz="800" dirty="0" err="1"/>
              <a:t>reflectances</a:t>
            </a:r>
            <a:r>
              <a:rPr lang="en-GB" sz="800" dirty="0"/>
              <a:t> using PROSAIL for each trait combination </a:t>
            </a:r>
            <a:r>
              <a:rPr lang="en-CH" sz="800" dirty="0"/>
              <a:t>(</a:t>
            </a:r>
            <a:r>
              <a:rPr lang="en-CH" sz="800" b="1" dirty="0"/>
              <a:t>A2</a:t>
            </a:r>
            <a:r>
              <a:rPr lang="en-CH" sz="800" dirty="0"/>
              <a:t>). The simulated reflectances (</a:t>
            </a:r>
            <a:r>
              <a:rPr lang="en-CH" sz="800" b="1" dirty="0"/>
              <a:t>A3</a:t>
            </a:r>
            <a:r>
              <a:rPr lang="en-CH" sz="800" dirty="0"/>
              <a:t>) served as training training data for fitting  (</a:t>
            </a:r>
            <a:r>
              <a:rPr lang="en-CH" sz="800" b="1" dirty="0"/>
              <a:t>A4</a:t>
            </a:r>
            <a:r>
              <a:rPr lang="en-CH" sz="800" dirty="0"/>
              <a:t>) a multi-layer perceptron regression model (</a:t>
            </a:r>
            <a:r>
              <a:rPr lang="en-CH" sz="800" b="1" dirty="0"/>
              <a:t>A5</a:t>
            </a:r>
            <a:r>
              <a:rPr lang="en-CH" sz="800" dirty="0"/>
              <a:t>). We evaluated the model fit using the calibration split of the in-situ data (</a:t>
            </a:r>
            <a:r>
              <a:rPr lang="en-CH" sz="800" b="1" dirty="0"/>
              <a:t>A6</a:t>
            </a:r>
            <a:r>
              <a:rPr lang="en-CH" sz="800" dirty="0"/>
              <a:t>) and repeated this procedure for 1000 iterations. We used the Optuna hyperparameter optimisation framework with the search space defined in Table 2. </a:t>
            </a:r>
          </a:p>
          <a:p>
            <a:endParaRPr lang="en-CH" sz="800" dirty="0"/>
          </a:p>
          <a:p>
            <a:r>
              <a:rPr lang="en-CH" sz="800" b="1" dirty="0"/>
              <a:t>B</a:t>
            </a:r>
            <a:r>
              <a:rPr lang="en-CH" sz="800" dirty="0"/>
              <a:t> </a:t>
            </a:r>
            <a:r>
              <a:rPr lang="en-GB" sz="800" dirty="0"/>
              <a:t>We obtained in-situ reference measurements from GBOV  (</a:t>
            </a:r>
            <a:r>
              <a:rPr lang="en-GB" sz="800" b="1" dirty="0"/>
              <a:t>B1</a:t>
            </a:r>
            <a:r>
              <a:rPr lang="en-GB" sz="800" dirty="0"/>
              <a:t>) for LAI, FAPAR, and FCOVER and overlaid them with the closest available cloud-free Sentinel-2 </a:t>
            </a:r>
            <a:r>
              <a:rPr lang="en-GB" sz="800" dirty="0" err="1"/>
              <a:t>reflectances</a:t>
            </a:r>
            <a:r>
              <a:rPr lang="en-GB" sz="800" dirty="0"/>
              <a:t> (</a:t>
            </a:r>
            <a:r>
              <a:rPr lang="en-GB" sz="800" b="1" dirty="0"/>
              <a:t>B2</a:t>
            </a:r>
            <a:r>
              <a:rPr lang="en-GB" sz="800" dirty="0"/>
              <a:t>). For each biophysical property, we performed a 5-fold stratified CV split based on ecoregions, ensuring observations from the same ecoregion appeared only in either calibration or validation splits (</a:t>
            </a:r>
            <a:r>
              <a:rPr lang="en-GB" sz="800" b="1" dirty="0"/>
              <a:t>B3</a:t>
            </a:r>
            <a:r>
              <a:rPr lang="en-GB" sz="800" dirty="0"/>
              <a:t>). For each CV split, we repeated the optimisation of the PROSAIL RTM hybrid inversion procedure and stacked (</a:t>
            </a:r>
            <a:r>
              <a:rPr lang="en-GB" sz="800" b="1" dirty="0"/>
              <a:t>A8</a:t>
            </a:r>
            <a:r>
              <a:rPr lang="en-GB" sz="800" dirty="0"/>
              <a:t>) the best models into a model ensemble (</a:t>
            </a:r>
            <a:r>
              <a:rPr lang="en-GB" sz="800" b="1" dirty="0"/>
              <a:t>A9</a:t>
            </a:r>
            <a:r>
              <a:rPr lang="en-GB" sz="800" dirty="0"/>
              <a:t>). We evaluated the model performance on held-out ecoregions using the validation split (</a:t>
            </a:r>
            <a:r>
              <a:rPr lang="en-GB" sz="800" b="1" dirty="0"/>
              <a:t>B4</a:t>
            </a:r>
            <a:r>
              <a:rPr lang="en-GB" sz="800" dirty="0"/>
              <a:t>).</a:t>
            </a:r>
          </a:p>
          <a:p>
            <a:endParaRPr lang="en-CH" sz="800" dirty="0"/>
          </a:p>
          <a:p>
            <a:r>
              <a:rPr lang="en-CH" sz="800" b="1" dirty="0"/>
              <a:t>C</a:t>
            </a:r>
            <a:r>
              <a:rPr lang="en-CH" sz="800" dirty="0"/>
              <a:t> </a:t>
            </a:r>
            <a:r>
              <a:rPr lang="en-GB" sz="800" dirty="0"/>
              <a:t>For global predictions, we used the Sentinel-2 L2A data </a:t>
            </a:r>
            <a:r>
              <a:rPr lang="en-GB" sz="800" dirty="0" err="1"/>
              <a:t>catalog</a:t>
            </a:r>
            <a:r>
              <a:rPr lang="en-GB" sz="800" dirty="0"/>
              <a:t> (</a:t>
            </a:r>
            <a:r>
              <a:rPr lang="en-GB" sz="800" b="1" dirty="0"/>
              <a:t>C1</a:t>
            </a:r>
            <a:r>
              <a:rPr lang="en-GB" sz="800" dirty="0"/>
              <a:t>) and joined it with the precomputed </a:t>
            </a:r>
            <a:r>
              <a:rPr lang="en-GB" sz="800" dirty="0" err="1"/>
              <a:t>CloudScore</a:t>
            </a:r>
            <a:r>
              <a:rPr lang="en-GB" sz="800" dirty="0"/>
              <a:t>+ collection (</a:t>
            </a:r>
            <a:r>
              <a:rPr lang="en-GB" sz="800" b="1" dirty="0"/>
              <a:t>C2</a:t>
            </a:r>
            <a:r>
              <a:rPr lang="en-GB" sz="800" dirty="0"/>
              <a:t>) to mask clouds at the pixel level (</a:t>
            </a:r>
            <a:r>
              <a:rPr lang="en-GB" sz="800" b="1" dirty="0"/>
              <a:t>C3</a:t>
            </a:r>
            <a:r>
              <a:rPr lang="en-GB" sz="800" dirty="0"/>
              <a:t>). To represent the vegetative period throughout the year, we calculated mean scene-level NDVI and retained scenes that balanced lower cloud coverage and higher NDVI (</a:t>
            </a:r>
            <a:r>
              <a:rPr lang="en-GB" sz="800" b="1" dirty="0"/>
              <a:t>C4</a:t>
            </a:r>
            <a:r>
              <a:rPr lang="en-GB" sz="800" dirty="0"/>
              <a:t>). We randomly assigned each Sentinel-2 scene to a model ensemble member (</a:t>
            </a:r>
            <a:r>
              <a:rPr lang="en-GB" sz="800" b="1" dirty="0"/>
              <a:t>A9</a:t>
            </a:r>
            <a:r>
              <a:rPr lang="en-GB" sz="800" dirty="0"/>
              <a:t>), predicted the scene (</a:t>
            </a:r>
            <a:r>
              <a:rPr lang="en-GB" sz="800" b="1" dirty="0"/>
              <a:t>C5</a:t>
            </a:r>
            <a:r>
              <a:rPr lang="en-GB" sz="800" dirty="0"/>
              <a:t>) and aggregated the predictions to compute mean, standard deviation, and acquisition count at the pixel level (</a:t>
            </a:r>
            <a:r>
              <a:rPr lang="en-GB" sz="800" b="1" dirty="0"/>
              <a:t>C6</a:t>
            </a:r>
            <a:r>
              <a:rPr lang="en-GB" sz="800" dirty="0"/>
              <a:t>). The resulting global biophysical maps (</a:t>
            </a:r>
            <a:r>
              <a:rPr lang="en-GB" sz="800" b="1" dirty="0"/>
              <a:t>C8</a:t>
            </a:r>
            <a:r>
              <a:rPr lang="en-GB" sz="800" dirty="0"/>
              <a:t>) are available for LAI, FAPAR, and FCOVER at 1000m, 100m, and 20m resolutions from 2019 to 2024.</a:t>
            </a:r>
            <a:endParaRPr lang="en-CH" sz="800" dirty="0"/>
          </a:p>
        </p:txBody>
      </p: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CE9913D5-C983-1417-1B2F-0B980CE9BFEB}"/>
              </a:ext>
            </a:extLst>
          </p:cNvPr>
          <p:cNvCxnSpPr>
            <a:cxnSpLocks/>
          </p:cNvCxnSpPr>
          <p:nvPr/>
        </p:nvCxnSpPr>
        <p:spPr>
          <a:xfrm>
            <a:off x="4338994" y="2204706"/>
            <a:ext cx="0" cy="809349"/>
          </a:xfrm>
          <a:prstGeom prst="straightConnector1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1" name="Rectangle 250">
            <a:extLst>
              <a:ext uri="{FF2B5EF4-FFF2-40B4-BE49-F238E27FC236}">
                <a16:creationId xmlns:a16="http://schemas.microsoft.com/office/drawing/2014/main" id="{A80DE00B-2C11-72CF-9D95-7B5CCF8A9A34}"/>
              </a:ext>
            </a:extLst>
          </p:cNvPr>
          <p:cNvSpPr/>
          <p:nvPr/>
        </p:nvSpPr>
        <p:spPr>
          <a:xfrm>
            <a:off x="1711059" y="1116932"/>
            <a:ext cx="3246200" cy="2808824"/>
          </a:xfrm>
          <a:prstGeom prst="rect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11136A4-1F1E-16D8-4711-7263206E0FEB}"/>
              </a:ext>
            </a:extLst>
          </p:cNvPr>
          <p:cNvGrpSpPr/>
          <p:nvPr/>
        </p:nvGrpSpPr>
        <p:grpSpPr>
          <a:xfrm>
            <a:off x="5513170" y="1200414"/>
            <a:ext cx="933269" cy="846712"/>
            <a:chOff x="5482634" y="1492778"/>
            <a:chExt cx="933269" cy="846712"/>
          </a:xfrm>
        </p:grpSpPr>
        <p:pic>
          <p:nvPicPr>
            <p:cNvPr id="18" name="Graphic 17" descr="Database outline">
              <a:extLst>
                <a:ext uri="{FF2B5EF4-FFF2-40B4-BE49-F238E27FC236}">
                  <a16:creationId xmlns:a16="http://schemas.microsoft.com/office/drawing/2014/main" id="{D41EB7EC-0EC8-D40E-1BED-F08BC83DCB8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24466" y="1713127"/>
              <a:ext cx="589431" cy="626363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C788B37-456F-389D-EAE0-B62FD668AB76}"/>
                </a:ext>
              </a:extLst>
            </p:cNvPr>
            <p:cNvSpPr txBox="1"/>
            <p:nvPr/>
          </p:nvSpPr>
          <p:spPr>
            <a:xfrm>
              <a:off x="5482634" y="1492778"/>
              <a:ext cx="933269" cy="230832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rtlCol="0">
              <a:spAutoFit/>
            </a:bodyPr>
            <a:lstStyle/>
            <a:p>
              <a:r>
                <a:rPr lang="en-CH" sz="900" b="1" dirty="0"/>
                <a:t>B1 </a:t>
              </a:r>
              <a:r>
                <a:rPr lang="en-CH" sz="900" dirty="0"/>
                <a:t>In-situ RMs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93D10A1-F935-EEBF-DE22-F88D9E69E399}"/>
              </a:ext>
            </a:extLst>
          </p:cNvPr>
          <p:cNvGrpSpPr>
            <a:grpSpLocks noChangeAspect="1"/>
          </p:cNvGrpSpPr>
          <p:nvPr/>
        </p:nvGrpSpPr>
        <p:grpSpPr>
          <a:xfrm>
            <a:off x="7210905" y="1487383"/>
            <a:ext cx="648000" cy="549058"/>
            <a:chOff x="5435326" y="1750027"/>
            <a:chExt cx="1018593" cy="8640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5B04C21-3466-31FD-3AA5-C51E344D03D8}"/>
                </a:ext>
              </a:extLst>
            </p:cNvPr>
            <p:cNvGrpSpPr/>
            <p:nvPr/>
          </p:nvGrpSpPr>
          <p:grpSpPr>
            <a:xfrm>
              <a:off x="5435326" y="1796402"/>
              <a:ext cx="1018593" cy="817625"/>
              <a:chOff x="5435326" y="1796402"/>
              <a:chExt cx="1018593" cy="817625"/>
            </a:xfrm>
          </p:grpSpPr>
          <p:sp>
            <p:nvSpPr>
              <p:cNvPr id="6" name="Rhombus">
                <a:extLst>
                  <a:ext uri="{FF2B5EF4-FFF2-40B4-BE49-F238E27FC236}">
                    <a16:creationId xmlns:a16="http://schemas.microsoft.com/office/drawing/2014/main" id="{6D404FCD-84A4-A23C-DBE7-ABF89F2B131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674" y="2038027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7" name="Rhombus">
                <a:extLst>
                  <a:ext uri="{FF2B5EF4-FFF2-40B4-BE49-F238E27FC236}">
                    <a16:creationId xmlns:a16="http://schemas.microsoft.com/office/drawing/2014/main" id="{2A0AD949-A7CA-6B2C-68B6-4B0AD7B65A0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674" y="2016000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8" name="Rhombus">
                <a:extLst>
                  <a:ext uri="{FF2B5EF4-FFF2-40B4-BE49-F238E27FC236}">
                    <a16:creationId xmlns:a16="http://schemas.microsoft.com/office/drawing/2014/main" id="{98416188-97F0-5971-EDE8-601163ED76B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000" y="1991225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9" name="Rhombus">
                <a:extLst>
                  <a:ext uri="{FF2B5EF4-FFF2-40B4-BE49-F238E27FC236}">
                    <a16:creationId xmlns:a16="http://schemas.microsoft.com/office/drawing/2014/main" id="{B8B0F703-8C4E-15E5-9FFC-7BA712EF178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674" y="1969625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10" name="Rhombus">
                <a:extLst>
                  <a:ext uri="{FF2B5EF4-FFF2-40B4-BE49-F238E27FC236}">
                    <a16:creationId xmlns:a16="http://schemas.microsoft.com/office/drawing/2014/main" id="{5AA6550F-A334-5B10-4272-75AF86E2C2F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674" y="1948025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11" name="Rhombus">
                <a:extLst>
                  <a:ext uri="{FF2B5EF4-FFF2-40B4-BE49-F238E27FC236}">
                    <a16:creationId xmlns:a16="http://schemas.microsoft.com/office/drawing/2014/main" id="{CF3E547A-EC35-27BE-54B9-7B95F0968CF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674" y="1926425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12" name="Rhombus">
                <a:extLst>
                  <a:ext uri="{FF2B5EF4-FFF2-40B4-BE49-F238E27FC236}">
                    <a16:creationId xmlns:a16="http://schemas.microsoft.com/office/drawing/2014/main" id="{F5E69AF1-2D17-906A-6D61-42C8A33AB91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674" y="1904825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13" name="Rhombus">
                <a:extLst>
                  <a:ext uri="{FF2B5EF4-FFF2-40B4-BE49-F238E27FC236}">
                    <a16:creationId xmlns:a16="http://schemas.microsoft.com/office/drawing/2014/main" id="{6C278E9B-5521-8F86-4A25-E080FE1943F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000" y="1883229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14" name="Rhombus">
                <a:extLst>
                  <a:ext uri="{FF2B5EF4-FFF2-40B4-BE49-F238E27FC236}">
                    <a16:creationId xmlns:a16="http://schemas.microsoft.com/office/drawing/2014/main" id="{7C1A9A09-18B1-261A-E76F-57885621176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000" y="1861202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15" name="Rhombus">
                <a:extLst>
                  <a:ext uri="{FF2B5EF4-FFF2-40B4-BE49-F238E27FC236}">
                    <a16:creationId xmlns:a16="http://schemas.microsoft.com/office/drawing/2014/main" id="{61BA9050-0E3C-8E7C-0B4D-5D4CDB6FA16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5326" y="1839602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16" name="Rhombus">
                <a:extLst>
                  <a:ext uri="{FF2B5EF4-FFF2-40B4-BE49-F238E27FC236}">
                    <a16:creationId xmlns:a16="http://schemas.microsoft.com/office/drawing/2014/main" id="{8368810A-219E-A9DF-5C2C-1AEC0F66B43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000" y="1818002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17" name="Rhombus">
                <a:extLst>
                  <a:ext uri="{FF2B5EF4-FFF2-40B4-BE49-F238E27FC236}">
                    <a16:creationId xmlns:a16="http://schemas.microsoft.com/office/drawing/2014/main" id="{CDFD1686-8CDD-1EED-7BFD-0E7DAB7B5AF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000" y="1796402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</p:grpSp>
        <p:sp>
          <p:nvSpPr>
            <p:cNvPr id="4" name="Rhombus">
              <a:extLst>
                <a:ext uri="{FF2B5EF4-FFF2-40B4-BE49-F238E27FC236}">
                  <a16:creationId xmlns:a16="http://schemas.microsoft.com/office/drawing/2014/main" id="{A71EEF47-E599-1099-5BD9-C30569F5E1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36000" y="1774802"/>
              <a:ext cx="1017245" cy="576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0" y="10800"/>
                  </a:lnTo>
                  <a:lnTo>
                    <a:pt x="10800" y="21600"/>
                  </a:lnTo>
                  <a:lnTo>
                    <a:pt x="21600" y="108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D5D5D5"/>
            </a:solidFill>
            <a:ln w="9525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309575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200" dirty="0"/>
            </a:p>
          </p:txBody>
        </p:sp>
        <p:sp>
          <p:nvSpPr>
            <p:cNvPr id="5" name="Rhombus">
              <a:extLst>
                <a:ext uri="{FF2B5EF4-FFF2-40B4-BE49-F238E27FC236}">
                  <a16:creationId xmlns:a16="http://schemas.microsoft.com/office/drawing/2014/main" id="{8D942388-0759-2456-BD1B-F63A64AEE54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36000" y="1750027"/>
              <a:ext cx="1017245" cy="576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0" y="10800"/>
                  </a:lnTo>
                  <a:lnTo>
                    <a:pt x="10800" y="21600"/>
                  </a:lnTo>
                  <a:lnTo>
                    <a:pt x="21600" y="10800"/>
                  </a:lnTo>
                  <a:lnTo>
                    <a:pt x="10800" y="0"/>
                  </a:lnTo>
                  <a:close/>
                </a:path>
              </a:pathLst>
            </a:custGeom>
            <a:blipFill dpi="0" rotWithShape="1">
              <a:blip r:embed="rId4">
                <a:alphaModFix/>
                <a:grayscl/>
              </a:blip>
              <a:srcRect/>
              <a:stretch>
                <a:fillRect/>
              </a:stretch>
            </a:blipFill>
            <a:ln w="9525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309575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200" dirty="0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70DDA775-8C25-4A3F-279B-66C7BE169202}"/>
              </a:ext>
            </a:extLst>
          </p:cNvPr>
          <p:cNvSpPr txBox="1"/>
          <p:nvPr/>
        </p:nvSpPr>
        <p:spPr>
          <a:xfrm>
            <a:off x="6992496" y="1198800"/>
            <a:ext cx="1096775" cy="2308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 algn="ctr"/>
            <a:r>
              <a:rPr lang="en-CH" sz="900" b="1" dirty="0"/>
              <a:t>C1  </a:t>
            </a:r>
            <a:r>
              <a:rPr lang="en-CH" sz="900" dirty="0"/>
              <a:t>Sentinel-2 L2A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A5B55A-B36C-0A3B-7DEB-D8F46A4ED91E}"/>
              </a:ext>
            </a:extLst>
          </p:cNvPr>
          <p:cNvSpPr txBox="1"/>
          <p:nvPr/>
        </p:nvSpPr>
        <p:spPr>
          <a:xfrm>
            <a:off x="8264273" y="1198800"/>
            <a:ext cx="1029449" cy="2308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 algn="ctr"/>
            <a:r>
              <a:rPr lang="en-CH" sz="900" b="1" dirty="0"/>
              <a:t>C2  </a:t>
            </a:r>
            <a:r>
              <a:rPr lang="en-CH" sz="900" dirty="0"/>
              <a:t>CloudScore+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E09E027-8D29-4DBF-6FE2-D52CE927808D}"/>
              </a:ext>
            </a:extLst>
          </p:cNvPr>
          <p:cNvGrpSpPr>
            <a:grpSpLocks noChangeAspect="1"/>
          </p:cNvGrpSpPr>
          <p:nvPr/>
        </p:nvGrpSpPr>
        <p:grpSpPr>
          <a:xfrm>
            <a:off x="8455240" y="1486800"/>
            <a:ext cx="648000" cy="549652"/>
            <a:chOff x="5435326" y="1750027"/>
            <a:chExt cx="1018593" cy="864000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3CD590F-FDD7-14F1-27E6-441B92D5EA23}"/>
                </a:ext>
              </a:extLst>
            </p:cNvPr>
            <p:cNvGrpSpPr/>
            <p:nvPr/>
          </p:nvGrpSpPr>
          <p:grpSpPr>
            <a:xfrm>
              <a:off x="5435326" y="1796402"/>
              <a:ext cx="1018593" cy="817625"/>
              <a:chOff x="5435326" y="1796402"/>
              <a:chExt cx="1018593" cy="817625"/>
            </a:xfrm>
          </p:grpSpPr>
          <p:sp>
            <p:nvSpPr>
              <p:cNvPr id="44" name="Rhombus">
                <a:extLst>
                  <a:ext uri="{FF2B5EF4-FFF2-40B4-BE49-F238E27FC236}">
                    <a16:creationId xmlns:a16="http://schemas.microsoft.com/office/drawing/2014/main" id="{59782184-3E13-E332-D637-D756A9758F9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674" y="2038027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45" name="Rhombus">
                <a:extLst>
                  <a:ext uri="{FF2B5EF4-FFF2-40B4-BE49-F238E27FC236}">
                    <a16:creationId xmlns:a16="http://schemas.microsoft.com/office/drawing/2014/main" id="{81846D5A-D050-4F5B-448B-1BC1CD6D024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674" y="2016000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46" name="Rhombus">
                <a:extLst>
                  <a:ext uri="{FF2B5EF4-FFF2-40B4-BE49-F238E27FC236}">
                    <a16:creationId xmlns:a16="http://schemas.microsoft.com/office/drawing/2014/main" id="{9BC14240-F735-1EBC-DA2E-0A103202FE8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000" y="1991225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47" name="Rhombus">
                <a:extLst>
                  <a:ext uri="{FF2B5EF4-FFF2-40B4-BE49-F238E27FC236}">
                    <a16:creationId xmlns:a16="http://schemas.microsoft.com/office/drawing/2014/main" id="{72A51872-39DA-F577-0EB7-0B1D33528AA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674" y="1969625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48" name="Rhombus">
                <a:extLst>
                  <a:ext uri="{FF2B5EF4-FFF2-40B4-BE49-F238E27FC236}">
                    <a16:creationId xmlns:a16="http://schemas.microsoft.com/office/drawing/2014/main" id="{FBE10C47-B25C-4AF5-910F-FEFDAF43244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674" y="1948025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49" name="Rhombus">
                <a:extLst>
                  <a:ext uri="{FF2B5EF4-FFF2-40B4-BE49-F238E27FC236}">
                    <a16:creationId xmlns:a16="http://schemas.microsoft.com/office/drawing/2014/main" id="{FE20AD1B-DBB0-BFFA-6035-CCEFBE2C9B7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674" y="1926425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50" name="Rhombus">
                <a:extLst>
                  <a:ext uri="{FF2B5EF4-FFF2-40B4-BE49-F238E27FC236}">
                    <a16:creationId xmlns:a16="http://schemas.microsoft.com/office/drawing/2014/main" id="{C7B0C450-4A75-B4F2-AD8C-B563B6C4172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674" y="1904825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51" name="Rhombus">
                <a:extLst>
                  <a:ext uri="{FF2B5EF4-FFF2-40B4-BE49-F238E27FC236}">
                    <a16:creationId xmlns:a16="http://schemas.microsoft.com/office/drawing/2014/main" id="{186BEDD1-AD73-1263-6061-EA09F63B5F0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000" y="1883229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52" name="Rhombus">
                <a:extLst>
                  <a:ext uri="{FF2B5EF4-FFF2-40B4-BE49-F238E27FC236}">
                    <a16:creationId xmlns:a16="http://schemas.microsoft.com/office/drawing/2014/main" id="{8D007D9D-09B6-C361-546B-3FA01387587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000" y="1861202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53" name="Rhombus">
                <a:extLst>
                  <a:ext uri="{FF2B5EF4-FFF2-40B4-BE49-F238E27FC236}">
                    <a16:creationId xmlns:a16="http://schemas.microsoft.com/office/drawing/2014/main" id="{B8C14455-E749-0525-4488-E3AA6412887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5326" y="1839602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54" name="Rhombus">
                <a:extLst>
                  <a:ext uri="{FF2B5EF4-FFF2-40B4-BE49-F238E27FC236}">
                    <a16:creationId xmlns:a16="http://schemas.microsoft.com/office/drawing/2014/main" id="{EB88F288-196F-999E-2760-506E4262CE9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000" y="1818002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55" name="Rhombus">
                <a:extLst>
                  <a:ext uri="{FF2B5EF4-FFF2-40B4-BE49-F238E27FC236}">
                    <a16:creationId xmlns:a16="http://schemas.microsoft.com/office/drawing/2014/main" id="{52647D2C-EDED-EB19-B8EC-7519FBE9FBB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000" y="1796402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</p:grpSp>
        <p:sp>
          <p:nvSpPr>
            <p:cNvPr id="42" name="Rhombus">
              <a:extLst>
                <a:ext uri="{FF2B5EF4-FFF2-40B4-BE49-F238E27FC236}">
                  <a16:creationId xmlns:a16="http://schemas.microsoft.com/office/drawing/2014/main" id="{F65DE816-1EA3-42C2-4CA3-2173609B48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36000" y="1774802"/>
              <a:ext cx="1017245" cy="576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0" y="10800"/>
                  </a:lnTo>
                  <a:lnTo>
                    <a:pt x="10800" y="21600"/>
                  </a:lnTo>
                  <a:lnTo>
                    <a:pt x="21600" y="108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D5D5D5"/>
            </a:solidFill>
            <a:ln w="9525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309575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200" dirty="0"/>
            </a:p>
          </p:txBody>
        </p:sp>
        <p:sp>
          <p:nvSpPr>
            <p:cNvPr id="43" name="Rhombus">
              <a:extLst>
                <a:ext uri="{FF2B5EF4-FFF2-40B4-BE49-F238E27FC236}">
                  <a16:creationId xmlns:a16="http://schemas.microsoft.com/office/drawing/2014/main" id="{C2776FA2-86E4-5822-C0B9-6D838DF4A5D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36000" y="1750027"/>
              <a:ext cx="1017245" cy="576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0" y="10800"/>
                  </a:lnTo>
                  <a:lnTo>
                    <a:pt x="10800" y="21600"/>
                  </a:lnTo>
                  <a:lnTo>
                    <a:pt x="21600" y="10800"/>
                  </a:lnTo>
                  <a:lnTo>
                    <a:pt x="10800" y="0"/>
                  </a:lnTo>
                  <a:close/>
                </a:path>
              </a:pathLst>
            </a:custGeom>
            <a:blipFill dpi="0" rotWithShape="1">
              <a:blip r:embed="rId5"/>
              <a:srcRect/>
              <a:stretch>
                <a:fillRect/>
              </a:stretch>
            </a:blipFill>
            <a:ln w="9525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309575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200" dirty="0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FF29B7D8-4703-C69D-265F-4B63379D2B58}"/>
              </a:ext>
            </a:extLst>
          </p:cNvPr>
          <p:cNvGrpSpPr>
            <a:grpSpLocks noChangeAspect="1"/>
          </p:cNvGrpSpPr>
          <p:nvPr/>
        </p:nvGrpSpPr>
        <p:grpSpPr>
          <a:xfrm>
            <a:off x="7839599" y="2503264"/>
            <a:ext cx="648000" cy="549652"/>
            <a:chOff x="5435326" y="1750027"/>
            <a:chExt cx="1018593" cy="864000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EC1380B8-4638-2B1B-6B81-F56666371AA5}"/>
                </a:ext>
              </a:extLst>
            </p:cNvPr>
            <p:cNvGrpSpPr/>
            <p:nvPr/>
          </p:nvGrpSpPr>
          <p:grpSpPr>
            <a:xfrm>
              <a:off x="5435326" y="1796402"/>
              <a:ext cx="1018593" cy="817625"/>
              <a:chOff x="5435326" y="1796402"/>
              <a:chExt cx="1018593" cy="817625"/>
            </a:xfrm>
          </p:grpSpPr>
          <p:sp>
            <p:nvSpPr>
              <p:cNvPr id="76" name="Rhombus">
                <a:extLst>
                  <a:ext uri="{FF2B5EF4-FFF2-40B4-BE49-F238E27FC236}">
                    <a16:creationId xmlns:a16="http://schemas.microsoft.com/office/drawing/2014/main" id="{1A529889-A1CB-70A4-F010-1E21A65CF7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674" y="2038027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77" name="Rhombus">
                <a:extLst>
                  <a:ext uri="{FF2B5EF4-FFF2-40B4-BE49-F238E27FC236}">
                    <a16:creationId xmlns:a16="http://schemas.microsoft.com/office/drawing/2014/main" id="{18B62F58-6A8B-EE7C-96C6-3E65F7D9492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674" y="2016000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78" name="Rhombus">
                <a:extLst>
                  <a:ext uri="{FF2B5EF4-FFF2-40B4-BE49-F238E27FC236}">
                    <a16:creationId xmlns:a16="http://schemas.microsoft.com/office/drawing/2014/main" id="{19EF2742-E0C0-4EE9-D062-F1A095AFF59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000" y="1991225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79" name="Rhombus">
                <a:extLst>
                  <a:ext uri="{FF2B5EF4-FFF2-40B4-BE49-F238E27FC236}">
                    <a16:creationId xmlns:a16="http://schemas.microsoft.com/office/drawing/2014/main" id="{96A8CF7A-6990-C53D-21FE-F9939823DB5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674" y="1969625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80" name="Rhombus">
                <a:extLst>
                  <a:ext uri="{FF2B5EF4-FFF2-40B4-BE49-F238E27FC236}">
                    <a16:creationId xmlns:a16="http://schemas.microsoft.com/office/drawing/2014/main" id="{960A3394-837C-52C8-9CEE-1FB166F441D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674" y="1948025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81" name="Rhombus">
                <a:extLst>
                  <a:ext uri="{FF2B5EF4-FFF2-40B4-BE49-F238E27FC236}">
                    <a16:creationId xmlns:a16="http://schemas.microsoft.com/office/drawing/2014/main" id="{CABCA015-3759-EA32-BA0A-32326EBFB84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674" y="1926425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82" name="Rhombus">
                <a:extLst>
                  <a:ext uri="{FF2B5EF4-FFF2-40B4-BE49-F238E27FC236}">
                    <a16:creationId xmlns:a16="http://schemas.microsoft.com/office/drawing/2014/main" id="{B62718A2-5AAE-8DBB-A885-D903B84C671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674" y="1904825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83" name="Rhombus">
                <a:extLst>
                  <a:ext uri="{FF2B5EF4-FFF2-40B4-BE49-F238E27FC236}">
                    <a16:creationId xmlns:a16="http://schemas.microsoft.com/office/drawing/2014/main" id="{4566F4C4-D3B7-DA39-367C-6AC5504B13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000" y="1883229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84" name="Rhombus">
                <a:extLst>
                  <a:ext uri="{FF2B5EF4-FFF2-40B4-BE49-F238E27FC236}">
                    <a16:creationId xmlns:a16="http://schemas.microsoft.com/office/drawing/2014/main" id="{9ECABAB0-ECA2-A79D-E40B-8AF1A9B5F23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000" y="1861202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85" name="Rhombus">
                <a:extLst>
                  <a:ext uri="{FF2B5EF4-FFF2-40B4-BE49-F238E27FC236}">
                    <a16:creationId xmlns:a16="http://schemas.microsoft.com/office/drawing/2014/main" id="{B1780C33-CFE6-AA69-33AB-DAF263051CB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5326" y="1839602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86" name="Rhombus">
                <a:extLst>
                  <a:ext uri="{FF2B5EF4-FFF2-40B4-BE49-F238E27FC236}">
                    <a16:creationId xmlns:a16="http://schemas.microsoft.com/office/drawing/2014/main" id="{81F10D0F-03CA-9F9F-7C72-E9C9102BB90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000" y="1818002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87" name="Rhombus">
                <a:extLst>
                  <a:ext uri="{FF2B5EF4-FFF2-40B4-BE49-F238E27FC236}">
                    <a16:creationId xmlns:a16="http://schemas.microsoft.com/office/drawing/2014/main" id="{C25927F2-173C-8301-771E-EE87B9D4D14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6000" y="1796402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rgbClr val="D5D5D5"/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</p:grpSp>
        <p:sp>
          <p:nvSpPr>
            <p:cNvPr id="74" name="Rhombus">
              <a:extLst>
                <a:ext uri="{FF2B5EF4-FFF2-40B4-BE49-F238E27FC236}">
                  <a16:creationId xmlns:a16="http://schemas.microsoft.com/office/drawing/2014/main" id="{2A60EB37-879E-BC0D-66FB-A4800F431D4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36000" y="1774802"/>
              <a:ext cx="1017245" cy="576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0" y="10800"/>
                  </a:lnTo>
                  <a:lnTo>
                    <a:pt x="10800" y="21600"/>
                  </a:lnTo>
                  <a:lnTo>
                    <a:pt x="21600" y="108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D5D5D5"/>
            </a:solidFill>
            <a:ln w="9525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309575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200" dirty="0"/>
            </a:p>
          </p:txBody>
        </p:sp>
        <p:sp>
          <p:nvSpPr>
            <p:cNvPr id="75" name="Rhombus">
              <a:extLst>
                <a:ext uri="{FF2B5EF4-FFF2-40B4-BE49-F238E27FC236}">
                  <a16:creationId xmlns:a16="http://schemas.microsoft.com/office/drawing/2014/main" id="{48945FBC-D99A-9FA6-9745-A47D87A9EC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36000" y="1750027"/>
              <a:ext cx="1017245" cy="576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0" y="10800"/>
                  </a:lnTo>
                  <a:lnTo>
                    <a:pt x="10800" y="21600"/>
                  </a:lnTo>
                  <a:lnTo>
                    <a:pt x="21600" y="10800"/>
                  </a:lnTo>
                  <a:lnTo>
                    <a:pt x="10800" y="0"/>
                  </a:lnTo>
                  <a:close/>
                </a:path>
              </a:pathLst>
            </a:custGeom>
            <a:blipFill dpi="0" rotWithShape="1">
              <a:blip r:embed="rId6">
                <a:grayscl/>
              </a:blip>
              <a:srcRect/>
              <a:stretch>
                <a:fillRect/>
              </a:stretch>
            </a:blipFill>
            <a:ln w="9525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309575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200" dirty="0"/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EC2A401-9605-2E65-ECE0-14314C29BE52}"/>
              </a:ext>
            </a:extLst>
          </p:cNvPr>
          <p:cNvGrpSpPr/>
          <p:nvPr/>
        </p:nvGrpSpPr>
        <p:grpSpPr>
          <a:xfrm>
            <a:off x="7544626" y="1957651"/>
            <a:ext cx="1228322" cy="494473"/>
            <a:chOff x="7200890" y="1392100"/>
            <a:chExt cx="1863099" cy="494473"/>
          </a:xfrm>
        </p:grpSpPr>
        <p:sp>
          <p:nvSpPr>
            <p:cNvPr id="69" name="Left Bracket 68">
              <a:extLst>
                <a:ext uri="{FF2B5EF4-FFF2-40B4-BE49-F238E27FC236}">
                  <a16:creationId xmlns:a16="http://schemas.microsoft.com/office/drawing/2014/main" id="{ADB8193B-D327-3A2F-559B-69E9BFCDD65E}"/>
                </a:ext>
              </a:extLst>
            </p:cNvPr>
            <p:cNvSpPr/>
            <p:nvPr/>
          </p:nvSpPr>
          <p:spPr>
            <a:xfrm rot="16200000">
              <a:off x="8063858" y="737922"/>
              <a:ext cx="137164" cy="1863099"/>
            </a:xfrm>
            <a:prstGeom prst="leftBracket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267B19E9-1ED5-A3FF-DE70-E0545EAD426E}"/>
                </a:ext>
              </a:extLst>
            </p:cNvPr>
            <p:cNvCxnSpPr>
              <a:cxnSpLocks/>
            </p:cNvCxnSpPr>
            <p:nvPr/>
          </p:nvCxnSpPr>
          <p:spPr>
            <a:xfrm>
              <a:off x="8125847" y="1738054"/>
              <a:ext cx="688" cy="148519"/>
            </a:xfrm>
            <a:prstGeom prst="straightConnector1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EF2D00BC-55B3-384C-B54E-77666319D316}"/>
                </a:ext>
              </a:extLst>
            </p:cNvPr>
            <p:cNvSpPr txBox="1"/>
            <p:nvPr/>
          </p:nvSpPr>
          <p:spPr>
            <a:xfrm>
              <a:off x="7365030" y="1392100"/>
              <a:ext cx="15838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900" b="1" dirty="0"/>
                <a:t>C3</a:t>
              </a:r>
              <a:r>
                <a:rPr lang="en-CH" sz="900" dirty="0"/>
                <a:t>  </a:t>
              </a:r>
              <a:r>
                <a:rPr lang="en-CH" sz="900" i="1" dirty="0"/>
                <a:t>Pixel-based cloud masking</a:t>
              </a:r>
            </a:p>
          </p:txBody>
        </p:sp>
      </p:grp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7CE23B21-D4A3-832D-15F2-49280875E268}"/>
              </a:ext>
            </a:extLst>
          </p:cNvPr>
          <p:cNvCxnSpPr>
            <a:cxnSpLocks/>
          </p:cNvCxnSpPr>
          <p:nvPr/>
        </p:nvCxnSpPr>
        <p:spPr>
          <a:xfrm>
            <a:off x="6040845" y="2975531"/>
            <a:ext cx="0" cy="281190"/>
          </a:xfrm>
          <a:prstGeom prst="straightConnector1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093B307A-5986-47FB-38D7-BE549B49F5A0}"/>
              </a:ext>
            </a:extLst>
          </p:cNvPr>
          <p:cNvSpPr txBox="1"/>
          <p:nvPr/>
        </p:nvSpPr>
        <p:spPr>
          <a:xfrm>
            <a:off x="5786435" y="2947853"/>
            <a:ext cx="1800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900" b="1" dirty="0"/>
              <a:t>B3  </a:t>
            </a:r>
            <a:r>
              <a:rPr lang="en-CH" sz="900" i="1" dirty="0"/>
              <a:t>5-fold</a:t>
            </a:r>
            <a:r>
              <a:rPr lang="en-CH" sz="900" b="1" i="1" dirty="0"/>
              <a:t> </a:t>
            </a:r>
            <a:r>
              <a:rPr lang="en-CH" sz="900" i="1" dirty="0"/>
              <a:t>ecoregion-</a:t>
            </a:r>
          </a:p>
          <a:p>
            <a:pPr algn="ctr"/>
            <a:r>
              <a:rPr lang="en-CH" sz="900" i="1" dirty="0"/>
              <a:t>blocked CV</a:t>
            </a: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C08EFE43-A9D7-E7CF-FA40-8B10542FDD63}"/>
              </a:ext>
            </a:extLst>
          </p:cNvPr>
          <p:cNvCxnSpPr>
            <a:cxnSpLocks/>
          </p:cNvCxnSpPr>
          <p:nvPr/>
        </p:nvCxnSpPr>
        <p:spPr>
          <a:xfrm flipH="1">
            <a:off x="7636301" y="3121200"/>
            <a:ext cx="506033" cy="363535"/>
          </a:xfrm>
          <a:prstGeom prst="straightConnector1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A7059274-7BF5-639D-C39F-EA844349D167}"/>
              </a:ext>
            </a:extLst>
          </p:cNvPr>
          <p:cNvCxnSpPr>
            <a:cxnSpLocks/>
          </p:cNvCxnSpPr>
          <p:nvPr/>
        </p:nvCxnSpPr>
        <p:spPr>
          <a:xfrm>
            <a:off x="9814332" y="23341"/>
            <a:ext cx="0" cy="6834659"/>
          </a:xfrm>
          <a:prstGeom prst="line">
            <a:avLst/>
          </a:prstGeom>
          <a:ln w="15875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ADFA5AC3-1322-BA57-4C87-B7218362AAB6}"/>
              </a:ext>
            </a:extLst>
          </p:cNvPr>
          <p:cNvCxnSpPr>
            <a:cxnSpLocks/>
          </p:cNvCxnSpPr>
          <p:nvPr/>
        </p:nvCxnSpPr>
        <p:spPr>
          <a:xfrm>
            <a:off x="1650100" y="89873"/>
            <a:ext cx="0" cy="6834659"/>
          </a:xfrm>
          <a:prstGeom prst="line">
            <a:avLst/>
          </a:prstGeom>
          <a:ln w="15875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TextBox 193">
            <a:extLst>
              <a:ext uri="{FF2B5EF4-FFF2-40B4-BE49-F238E27FC236}">
                <a16:creationId xmlns:a16="http://schemas.microsoft.com/office/drawing/2014/main" id="{D8702798-795A-423C-E4CC-4E9C46A63720}"/>
              </a:ext>
            </a:extLst>
          </p:cNvPr>
          <p:cNvSpPr txBox="1"/>
          <p:nvPr/>
        </p:nvSpPr>
        <p:spPr>
          <a:xfrm>
            <a:off x="1909652" y="3655625"/>
            <a:ext cx="133241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H" sz="900" b="1" dirty="0"/>
              <a:t>A1</a:t>
            </a:r>
            <a:r>
              <a:rPr lang="en-CH" sz="900" dirty="0"/>
              <a:t>  </a:t>
            </a:r>
            <a:r>
              <a:rPr lang="en-CH" sz="900" i="1" dirty="0"/>
              <a:t>Define input ranges</a:t>
            </a: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CF6E48B4-7B49-D67B-D677-6CFB31858C27}"/>
              </a:ext>
            </a:extLst>
          </p:cNvPr>
          <p:cNvGrpSpPr/>
          <p:nvPr/>
        </p:nvGrpSpPr>
        <p:grpSpPr>
          <a:xfrm>
            <a:off x="2231080" y="3279058"/>
            <a:ext cx="777769" cy="354621"/>
            <a:chOff x="14493320" y="2284630"/>
            <a:chExt cx="2074050" cy="945657"/>
          </a:xfrm>
        </p:grpSpPr>
        <p:pic>
          <p:nvPicPr>
            <p:cNvPr id="197" name="Graphic 196" descr="Settings outline">
              <a:extLst>
                <a:ext uri="{FF2B5EF4-FFF2-40B4-BE49-F238E27FC236}">
                  <a16:creationId xmlns:a16="http://schemas.microsoft.com/office/drawing/2014/main" id="{3E57539E-83BB-4232-01C8-72DC983B71C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5652970" y="2315887"/>
              <a:ext cx="914400" cy="914400"/>
            </a:xfrm>
            <a:prstGeom prst="rect">
              <a:avLst/>
            </a:prstGeom>
          </p:spPr>
        </p:pic>
        <p:pic>
          <p:nvPicPr>
            <p:cNvPr id="198" name="Graphic 197" descr="Normal Distribution outline">
              <a:extLst>
                <a:ext uri="{FF2B5EF4-FFF2-40B4-BE49-F238E27FC236}">
                  <a16:creationId xmlns:a16="http://schemas.microsoft.com/office/drawing/2014/main" id="{C3CBE217-1D8B-748D-CCBE-35B79F81C3D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4493320" y="2284630"/>
              <a:ext cx="914400" cy="914400"/>
            </a:xfrm>
            <a:prstGeom prst="rect">
              <a:avLst/>
            </a:prstGeom>
          </p:spPr>
        </p:pic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3C2D54C6-2CFC-248D-4ECA-9520E42DB180}"/>
                </a:ext>
              </a:extLst>
            </p:cNvPr>
            <p:cNvCxnSpPr/>
            <p:nvPr/>
          </p:nvCxnSpPr>
          <p:spPr>
            <a:xfrm>
              <a:off x="15509318" y="2480295"/>
              <a:ext cx="0" cy="572260"/>
            </a:xfrm>
            <a:prstGeom prst="line">
              <a:avLst/>
            </a:prstGeom>
            <a:noFill/>
            <a:ln w="15875" cap="flat">
              <a:solidFill>
                <a:schemeClr val="tx1"/>
              </a:solidFill>
              <a:prstDash val="sys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207" name="TextBox 206">
            <a:extLst>
              <a:ext uri="{FF2B5EF4-FFF2-40B4-BE49-F238E27FC236}">
                <a16:creationId xmlns:a16="http://schemas.microsoft.com/office/drawing/2014/main" id="{5712C1D0-B546-750E-A4B2-FC9B3F12D251}"/>
              </a:ext>
            </a:extLst>
          </p:cNvPr>
          <p:cNvSpPr txBox="1"/>
          <p:nvPr/>
        </p:nvSpPr>
        <p:spPr>
          <a:xfrm>
            <a:off x="2984869" y="1746385"/>
            <a:ext cx="9829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H" sz="900" b="1" dirty="0"/>
              <a:t>A4</a:t>
            </a:r>
            <a:r>
              <a:rPr lang="en-CH" sz="900" dirty="0"/>
              <a:t>  </a:t>
            </a:r>
            <a:r>
              <a:rPr lang="en-CH" sz="900" i="1" dirty="0"/>
              <a:t>Model fitting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FD62ECD1-B449-6980-7528-6B9D68B33FA4}"/>
              </a:ext>
            </a:extLst>
          </p:cNvPr>
          <p:cNvSpPr txBox="1"/>
          <p:nvPr/>
        </p:nvSpPr>
        <p:spPr>
          <a:xfrm>
            <a:off x="4409242" y="2804731"/>
            <a:ext cx="1389770" cy="5078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H" sz="900" b="1" dirty="0">
                <a:solidFill>
                  <a:schemeClr val="accent2">
                    <a:lumMod val="75000"/>
                  </a:schemeClr>
                </a:solidFill>
              </a:rPr>
              <a:t>A6</a:t>
            </a:r>
            <a:r>
              <a:rPr lang="en-CH" sz="900" dirty="0">
                <a:solidFill>
                  <a:schemeClr val="accent2">
                    <a:lumMod val="75000"/>
                  </a:schemeClr>
                </a:solidFill>
              </a:rPr>
              <a:t>  </a:t>
            </a:r>
            <a:r>
              <a:rPr lang="en-GB" sz="900" i="1" dirty="0">
                <a:solidFill>
                  <a:schemeClr val="accent2">
                    <a:lumMod val="75000"/>
                  </a:schemeClr>
                </a:solidFill>
              </a:rPr>
              <a:t>Evaluate candidate model on calibration subset </a:t>
            </a:r>
            <a:r>
              <a:rPr lang="en-GB" sz="900" b="1" i="1" dirty="0">
                <a:solidFill>
                  <a:schemeClr val="accent2">
                    <a:lumMod val="75000"/>
                  </a:schemeClr>
                </a:solidFill>
              </a:rPr>
              <a:t>C</a:t>
            </a:r>
            <a:r>
              <a:rPr lang="en-GB" sz="900" b="1" i="1" baseline="-25000" dirty="0">
                <a:solidFill>
                  <a:schemeClr val="accent2">
                    <a:lumMod val="75000"/>
                  </a:schemeClr>
                </a:solidFill>
              </a:rPr>
              <a:t>k</a:t>
            </a:r>
            <a:endParaRPr lang="en-CH" sz="9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CB3A4FC3-F77D-8CE3-1E1B-A4A7F3E6380C}"/>
              </a:ext>
            </a:extLst>
          </p:cNvPr>
          <p:cNvGrpSpPr>
            <a:grpSpLocks noChangeAspect="1"/>
          </p:cNvGrpSpPr>
          <p:nvPr/>
        </p:nvGrpSpPr>
        <p:grpSpPr>
          <a:xfrm>
            <a:off x="2426179" y="1601826"/>
            <a:ext cx="412884" cy="408701"/>
            <a:chOff x="983156" y="1984158"/>
            <a:chExt cx="335834" cy="332432"/>
          </a:xfrm>
          <a:solidFill>
            <a:schemeClr val="bg2">
              <a:lumMod val="90000"/>
            </a:schemeClr>
          </a:solidFill>
        </p:grpSpPr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EDC81E7E-2C1F-A680-DFCC-43F24709B41B}"/>
                </a:ext>
              </a:extLst>
            </p:cNvPr>
            <p:cNvSpPr/>
            <p:nvPr/>
          </p:nvSpPr>
          <p:spPr>
            <a:xfrm>
              <a:off x="983156" y="1984158"/>
              <a:ext cx="335834" cy="332432"/>
            </a:xfrm>
            <a:prstGeom prst="rect">
              <a:avLst/>
            </a:prstGeom>
            <a:grpFill/>
            <a:ln w="12700" cap="flat">
              <a:solidFill>
                <a:schemeClr val="bg2">
                  <a:lumMod val="50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CH" sz="1400" b="0" i="0" u="none" strike="noStrike" cap="none" spc="0" normalizeH="0" baseline="0" dirty="0">
                <a:ln>
                  <a:noFill/>
                </a:ln>
                <a:solidFill>
                  <a:srgbClr val="122334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endParaRPr>
            </a:p>
          </p:txBody>
        </p: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984E131-74DD-1F14-E1D4-B846C5119D14}"/>
                </a:ext>
              </a:extLst>
            </p:cNvPr>
            <p:cNvCxnSpPr>
              <a:cxnSpLocks/>
            </p:cNvCxnSpPr>
            <p:nvPr/>
          </p:nvCxnSpPr>
          <p:spPr>
            <a:xfrm>
              <a:off x="983156" y="2054137"/>
              <a:ext cx="335834" cy="0"/>
            </a:xfrm>
            <a:prstGeom prst="line">
              <a:avLst/>
            </a:prstGeom>
            <a:grpFill/>
            <a:ln w="12700" cap="flat">
              <a:solidFill>
                <a:schemeClr val="bg2">
                  <a:lumMod val="50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FB6A8EC0-0474-6CAE-5637-E3A178D280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1681" y="1984158"/>
              <a:ext cx="0" cy="332432"/>
            </a:xfrm>
            <a:prstGeom prst="line">
              <a:avLst/>
            </a:prstGeom>
            <a:grpFill/>
            <a:ln w="12700" cap="flat">
              <a:solidFill>
                <a:schemeClr val="bg2">
                  <a:lumMod val="50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219" name="TextBox 218">
            <a:extLst>
              <a:ext uri="{FF2B5EF4-FFF2-40B4-BE49-F238E27FC236}">
                <a16:creationId xmlns:a16="http://schemas.microsoft.com/office/drawing/2014/main" id="{5D4E363A-3239-268B-3B9A-64412B653A0E}"/>
              </a:ext>
            </a:extLst>
          </p:cNvPr>
          <p:cNvSpPr txBox="1"/>
          <p:nvPr/>
        </p:nvSpPr>
        <p:spPr>
          <a:xfrm>
            <a:off x="2881782" y="2183058"/>
            <a:ext cx="11865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H" sz="900" i="1" dirty="0"/>
              <a:t>Hybrid RTM retrieval</a:t>
            </a:r>
          </a:p>
          <a:p>
            <a:pPr algn="ctr"/>
            <a:endParaRPr lang="en-CH" sz="900" i="1" dirty="0"/>
          </a:p>
          <a:p>
            <a:pPr algn="ctr"/>
            <a:r>
              <a:rPr lang="en-CH" sz="900" i="1" dirty="0"/>
              <a:t>----------------</a:t>
            </a:r>
          </a:p>
          <a:p>
            <a:pPr algn="ctr"/>
            <a:endParaRPr lang="en-CH" sz="900" i="1" dirty="0"/>
          </a:p>
          <a:p>
            <a:pPr algn="ctr"/>
            <a:r>
              <a:rPr lang="en-CH" sz="900" i="1" dirty="0"/>
              <a:t>Bayesian</a:t>
            </a:r>
          </a:p>
          <a:p>
            <a:pPr algn="ctr"/>
            <a:r>
              <a:rPr lang="en-GB" sz="900" i="1" dirty="0"/>
              <a:t>o</a:t>
            </a:r>
            <a:r>
              <a:rPr lang="en-CH" sz="900" i="1" dirty="0"/>
              <a:t>ptimisation</a:t>
            </a:r>
          </a:p>
        </p:txBody>
      </p: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D3C86C8B-F466-BBC1-A4B5-C311CA03200C}"/>
              </a:ext>
            </a:extLst>
          </p:cNvPr>
          <p:cNvCxnSpPr>
            <a:cxnSpLocks/>
          </p:cNvCxnSpPr>
          <p:nvPr/>
        </p:nvCxnSpPr>
        <p:spPr>
          <a:xfrm>
            <a:off x="3159028" y="1740510"/>
            <a:ext cx="720000" cy="0"/>
          </a:xfrm>
          <a:prstGeom prst="straightConnector1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1F08A36D-6F14-9DF6-14C4-88E043F997A0}"/>
              </a:ext>
            </a:extLst>
          </p:cNvPr>
          <p:cNvCxnSpPr>
            <a:cxnSpLocks/>
          </p:cNvCxnSpPr>
          <p:nvPr/>
        </p:nvCxnSpPr>
        <p:spPr>
          <a:xfrm flipH="1" flipV="1">
            <a:off x="2640289" y="2171528"/>
            <a:ext cx="330" cy="810000"/>
          </a:xfrm>
          <a:prstGeom prst="straightConnector1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3A29EE7C-9FC4-5634-1F0F-0DA98056608C}"/>
              </a:ext>
            </a:extLst>
          </p:cNvPr>
          <p:cNvCxnSpPr>
            <a:cxnSpLocks/>
          </p:cNvCxnSpPr>
          <p:nvPr/>
        </p:nvCxnSpPr>
        <p:spPr>
          <a:xfrm rot="5400000" flipH="1">
            <a:off x="3564201" y="3197645"/>
            <a:ext cx="331" cy="720000"/>
          </a:xfrm>
          <a:prstGeom prst="straightConnector1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5B67F2DC-51C7-75FC-E4D9-BDAB9B9165B4}"/>
              </a:ext>
            </a:extLst>
          </p:cNvPr>
          <p:cNvGrpSpPr/>
          <p:nvPr/>
        </p:nvGrpSpPr>
        <p:grpSpPr>
          <a:xfrm>
            <a:off x="4141310" y="3247329"/>
            <a:ext cx="531418" cy="379163"/>
            <a:chOff x="5513872" y="3794488"/>
            <a:chExt cx="1272180" cy="651701"/>
          </a:xfrm>
        </p:grpSpPr>
        <p:cxnSp>
          <p:nvCxnSpPr>
            <p:cNvPr id="230" name="Straight Arrow Connector 229">
              <a:extLst>
                <a:ext uri="{FF2B5EF4-FFF2-40B4-BE49-F238E27FC236}">
                  <a16:creationId xmlns:a16="http://schemas.microsoft.com/office/drawing/2014/main" id="{C25800DA-92A9-C712-39F4-A87E8B3C55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13872" y="3794488"/>
              <a:ext cx="0" cy="651701"/>
            </a:xfrm>
            <a:prstGeom prst="straightConnector1">
              <a:avLst/>
            </a:prstGeom>
            <a:noFill/>
            <a:ln w="9525" cap="flat">
              <a:solidFill>
                <a:schemeClr val="bg2">
                  <a:lumMod val="50000"/>
                </a:schemeClr>
              </a:solidFill>
              <a:prstDash val="solid"/>
              <a:round/>
              <a:tailEnd type="non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31" name="Straight Arrow Connector 230">
              <a:extLst>
                <a:ext uri="{FF2B5EF4-FFF2-40B4-BE49-F238E27FC236}">
                  <a16:creationId xmlns:a16="http://schemas.microsoft.com/office/drawing/2014/main" id="{65B666CA-6BBF-AEA2-46FD-0E0EFA1EA6C7}"/>
                </a:ext>
              </a:extLst>
            </p:cNvPr>
            <p:cNvCxnSpPr>
              <a:cxnSpLocks/>
            </p:cNvCxnSpPr>
            <p:nvPr/>
          </p:nvCxnSpPr>
          <p:spPr>
            <a:xfrm>
              <a:off x="5513872" y="4446068"/>
              <a:ext cx="1272180" cy="0"/>
            </a:xfrm>
            <a:prstGeom prst="straightConnector1">
              <a:avLst/>
            </a:prstGeom>
            <a:noFill/>
            <a:ln w="9525" cap="sq">
              <a:solidFill>
                <a:schemeClr val="bg2">
                  <a:lumMod val="50000"/>
                </a:schemeClr>
              </a:solidFill>
              <a:prstDash val="solid"/>
              <a:round/>
              <a:tailEnd type="non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EE0A83E0-A548-A8F7-CE49-001FD0855A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85742" y="4025679"/>
              <a:ext cx="918943" cy="261367"/>
            </a:xfrm>
            <a:prstGeom prst="line">
              <a:avLst/>
            </a:prstGeom>
            <a:noFill/>
            <a:ln w="15875" cap="flat">
              <a:solidFill>
                <a:schemeClr val="bg2">
                  <a:lumMod val="75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3D7F7AB0-1D2B-B005-22F2-D055D904EC05}"/>
              </a:ext>
            </a:extLst>
          </p:cNvPr>
          <p:cNvCxnSpPr>
            <a:cxnSpLocks/>
          </p:cNvCxnSpPr>
          <p:nvPr/>
        </p:nvCxnSpPr>
        <p:spPr>
          <a:xfrm flipH="1">
            <a:off x="4772705" y="3513328"/>
            <a:ext cx="585423" cy="0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3785D7A3-91D0-ED1F-3C55-746DE05C77A8}"/>
                  </a:ext>
                </a:extLst>
              </p:cNvPr>
              <p:cNvSpPr txBox="1"/>
              <p:nvPr/>
            </p:nvSpPr>
            <p:spPr>
              <a:xfrm>
                <a:off x="1968924" y="851148"/>
                <a:ext cx="2724015" cy="25391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H" sz="1050" b="1" dirty="0"/>
                  <a:t>(A)  </a:t>
                </a:r>
                <a:r>
                  <a:rPr lang="en-CH" sz="1050" dirty="0"/>
                  <a:t>Model Training (for CV-split </a:t>
                </a:r>
                <a14:m>
                  <m:oMath xmlns:m="http://schemas.openxmlformats.org/officeDocument/2006/math">
                    <m:r>
                      <a:rPr lang="en-CH" sz="105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CH" sz="1050" i="1" dirty="0" smtClean="0">
                        <a:latin typeface="Cambria Math" panose="02040503050406030204" pitchFamily="18" charset="0"/>
                      </a:rPr>
                      <m:t> = 1, …, 5</m:t>
                    </m:r>
                  </m:oMath>
                </a14:m>
                <a:r>
                  <a:rPr lang="en-CH" sz="1050" dirty="0"/>
                  <a:t>)</a:t>
                </a:r>
              </a:p>
            </p:txBody>
          </p:sp>
        </mc:Choice>
        <mc:Fallback xmlns=""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3785D7A3-91D0-ED1F-3C55-746DE05C77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8924" y="851148"/>
                <a:ext cx="2724015" cy="253916"/>
              </a:xfrm>
              <a:prstGeom prst="rect">
                <a:avLst/>
              </a:prstGeom>
              <a:blipFill>
                <a:blip r:embed="rId9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0" name="TextBox 199">
            <a:extLst>
              <a:ext uri="{FF2B5EF4-FFF2-40B4-BE49-F238E27FC236}">
                <a16:creationId xmlns:a16="http://schemas.microsoft.com/office/drawing/2014/main" id="{A489863E-49CD-E8F2-9231-318E29AF4C1F}"/>
              </a:ext>
            </a:extLst>
          </p:cNvPr>
          <p:cNvSpPr txBox="1"/>
          <p:nvPr/>
        </p:nvSpPr>
        <p:spPr>
          <a:xfrm>
            <a:off x="1727225" y="2320490"/>
            <a:ext cx="89334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H" sz="900" b="1" dirty="0"/>
              <a:t>A2 </a:t>
            </a:r>
            <a:r>
              <a:rPr lang="en-CH" sz="900" b="1" i="1" dirty="0"/>
              <a:t> </a:t>
            </a:r>
            <a:r>
              <a:rPr lang="en-CH" sz="900" i="1" dirty="0"/>
              <a:t>Simulate reflectance with PROSAIL RTM</a:t>
            </a:r>
          </a:p>
        </p:txBody>
      </p:sp>
      <p:cxnSp>
        <p:nvCxnSpPr>
          <p:cNvPr id="272" name="Straight Arrow Connector 271">
            <a:extLst>
              <a:ext uri="{FF2B5EF4-FFF2-40B4-BE49-F238E27FC236}">
                <a16:creationId xmlns:a16="http://schemas.microsoft.com/office/drawing/2014/main" id="{2931F696-1DC6-C45A-3DFC-408CCC3D79E9}"/>
              </a:ext>
            </a:extLst>
          </p:cNvPr>
          <p:cNvCxnSpPr>
            <a:cxnSpLocks/>
          </p:cNvCxnSpPr>
          <p:nvPr/>
        </p:nvCxnSpPr>
        <p:spPr>
          <a:xfrm>
            <a:off x="6051524" y="2047126"/>
            <a:ext cx="0" cy="273364"/>
          </a:xfrm>
          <a:prstGeom prst="straightConnector1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TextBox 282">
            <a:extLst>
              <a:ext uri="{FF2B5EF4-FFF2-40B4-BE49-F238E27FC236}">
                <a16:creationId xmlns:a16="http://schemas.microsoft.com/office/drawing/2014/main" id="{19061A09-6C26-321F-6A0A-4ECAEF1A9132}"/>
              </a:ext>
            </a:extLst>
          </p:cNvPr>
          <p:cNvSpPr txBox="1"/>
          <p:nvPr/>
        </p:nvSpPr>
        <p:spPr>
          <a:xfrm>
            <a:off x="6433739" y="2542270"/>
            <a:ext cx="13260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900" b="1" dirty="0"/>
              <a:t>B2</a:t>
            </a:r>
            <a:r>
              <a:rPr lang="en-CH" sz="900" dirty="0"/>
              <a:t>  </a:t>
            </a:r>
            <a:r>
              <a:rPr lang="en-CH" sz="900" i="1" dirty="0"/>
              <a:t>Space-time overlay</a:t>
            </a: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5F285725-E02B-0C21-1DB5-43C80F96AA74}"/>
              </a:ext>
            </a:extLst>
          </p:cNvPr>
          <p:cNvSpPr txBox="1"/>
          <p:nvPr/>
        </p:nvSpPr>
        <p:spPr>
          <a:xfrm>
            <a:off x="3137631" y="3173847"/>
            <a:ext cx="862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H" sz="900" b="1" dirty="0"/>
              <a:t>A7</a:t>
            </a:r>
            <a:r>
              <a:rPr lang="en-CH" sz="900" dirty="0"/>
              <a:t>  </a:t>
            </a:r>
            <a:r>
              <a:rPr lang="en-CH" sz="900" i="1" dirty="0"/>
              <a:t>Repeat</a:t>
            </a:r>
          </a:p>
          <a:p>
            <a:pPr algn="ctr"/>
            <a:r>
              <a:rPr lang="en-GB" sz="900" i="1" dirty="0"/>
              <a:t>for </a:t>
            </a:r>
            <a:r>
              <a:rPr lang="en-CH" sz="900" i="1" dirty="0"/>
              <a:t>8000 trials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F35C4B5-FA3E-6492-FAAA-FF6D41F826C6}"/>
              </a:ext>
            </a:extLst>
          </p:cNvPr>
          <p:cNvSpPr txBox="1"/>
          <p:nvPr/>
        </p:nvSpPr>
        <p:spPr>
          <a:xfrm>
            <a:off x="5195436" y="4192929"/>
            <a:ext cx="1949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900" b="1" dirty="0">
                <a:solidFill>
                  <a:schemeClr val="accent5">
                    <a:lumMod val="75000"/>
                  </a:schemeClr>
                </a:solidFill>
              </a:rPr>
              <a:t>B4  </a:t>
            </a:r>
            <a:r>
              <a:rPr lang="en-CH" sz="900" i="1" dirty="0">
                <a:solidFill>
                  <a:schemeClr val="accent5">
                    <a:lumMod val="75000"/>
                  </a:schemeClr>
                </a:solidFill>
              </a:rPr>
              <a:t>Stacked out-of-sample evaluation:</a:t>
            </a:r>
            <a:r>
              <a:rPr lang="en-CH" sz="900" b="1" i="1" dirty="0">
                <a:solidFill>
                  <a:schemeClr val="accent5">
                    <a:lumMod val="75000"/>
                  </a:schemeClr>
                </a:solidFill>
              </a:rPr>
              <a:t> M</a:t>
            </a:r>
            <a:r>
              <a:rPr lang="en-CH" sz="900" b="1" i="1" baseline="-25000" dirty="0">
                <a:solidFill>
                  <a:schemeClr val="accent5">
                    <a:lumMod val="75000"/>
                  </a:schemeClr>
                </a:solidFill>
              </a:rPr>
              <a:t>k</a:t>
            </a:r>
            <a:r>
              <a:rPr lang="en-CH" sz="900" i="1" dirty="0">
                <a:solidFill>
                  <a:schemeClr val="accent5">
                    <a:lumMod val="75000"/>
                  </a:schemeClr>
                </a:solidFill>
              </a:rPr>
              <a:t> on held-out fold </a:t>
            </a:r>
            <a:r>
              <a:rPr lang="en-CH" sz="900" b="1" i="1" dirty="0">
                <a:solidFill>
                  <a:schemeClr val="accent5">
                    <a:lumMod val="75000"/>
                  </a:schemeClr>
                </a:solidFill>
              </a:rPr>
              <a:t>V</a:t>
            </a:r>
            <a:r>
              <a:rPr lang="en-CH" sz="900" b="1" i="1" baseline="-25000" dirty="0">
                <a:solidFill>
                  <a:schemeClr val="accent5">
                    <a:lumMod val="75000"/>
                  </a:schemeClr>
                </a:solidFill>
              </a:rPr>
              <a:t>k</a:t>
            </a:r>
            <a:endParaRPr lang="en-CH" sz="900" b="1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3CEA0C-E0AC-2FBF-12D7-41C2FC3F587A}"/>
              </a:ext>
            </a:extLst>
          </p:cNvPr>
          <p:cNvSpPr txBox="1"/>
          <p:nvPr/>
        </p:nvSpPr>
        <p:spPr>
          <a:xfrm>
            <a:off x="3798448" y="1198800"/>
            <a:ext cx="1124026" cy="2308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 algn="ctr"/>
            <a:r>
              <a:rPr lang="en-CH" sz="900" b="1" dirty="0"/>
              <a:t>A5</a:t>
            </a:r>
            <a:r>
              <a:rPr lang="en-CH" sz="900" dirty="0"/>
              <a:t>  MLP-</a:t>
            </a:r>
            <a:r>
              <a:rPr lang="en-CH" sz="900" i="1" dirty="0"/>
              <a:t>Regressor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B4FA50B-7F99-AF03-7C17-27CD37093626}"/>
              </a:ext>
            </a:extLst>
          </p:cNvPr>
          <p:cNvSpPr txBox="1"/>
          <p:nvPr/>
        </p:nvSpPr>
        <p:spPr>
          <a:xfrm>
            <a:off x="5011697" y="861658"/>
            <a:ext cx="2127505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CH" sz="1050" b="1" dirty="0"/>
              <a:t>(B)  </a:t>
            </a:r>
            <a:r>
              <a:rPr lang="en-CH" sz="1050" dirty="0"/>
              <a:t>Model Calibration / Validation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068D581-A60E-0D84-F078-DB1DE655B376}"/>
              </a:ext>
            </a:extLst>
          </p:cNvPr>
          <p:cNvSpPr txBox="1"/>
          <p:nvPr/>
        </p:nvSpPr>
        <p:spPr>
          <a:xfrm>
            <a:off x="7497514" y="862147"/>
            <a:ext cx="1394934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CH" sz="1050" b="1" dirty="0"/>
              <a:t>(C)  </a:t>
            </a:r>
            <a:r>
              <a:rPr lang="en-CH" sz="1050" dirty="0"/>
              <a:t>Model Prediction</a:t>
            </a: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498B892A-513D-CD58-C899-EB548CFB3872}"/>
              </a:ext>
            </a:extLst>
          </p:cNvPr>
          <p:cNvCxnSpPr>
            <a:cxnSpLocks/>
          </p:cNvCxnSpPr>
          <p:nvPr/>
        </p:nvCxnSpPr>
        <p:spPr>
          <a:xfrm flipH="1">
            <a:off x="6416179" y="2777023"/>
            <a:ext cx="1146256" cy="0"/>
          </a:xfrm>
          <a:prstGeom prst="straightConnector1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7" name="TextBox 286">
            <a:extLst>
              <a:ext uri="{FF2B5EF4-FFF2-40B4-BE49-F238E27FC236}">
                <a16:creationId xmlns:a16="http://schemas.microsoft.com/office/drawing/2014/main" id="{57E863C2-102C-4D8E-FEC4-27943C18A188}"/>
              </a:ext>
            </a:extLst>
          </p:cNvPr>
          <p:cNvSpPr txBox="1"/>
          <p:nvPr/>
        </p:nvSpPr>
        <p:spPr>
          <a:xfrm>
            <a:off x="1744742" y="1198800"/>
            <a:ext cx="1552028" cy="2308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 algn="ctr"/>
            <a:r>
              <a:rPr lang="en-CH" sz="900" b="1" dirty="0"/>
              <a:t>A3  </a:t>
            </a:r>
            <a:r>
              <a:rPr lang="en-CH" sz="900" dirty="0"/>
              <a:t>Simulated Training Data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5AEF99-DA69-EF8F-2164-20C19D91953B}"/>
              </a:ext>
            </a:extLst>
          </p:cNvPr>
          <p:cNvSpPr txBox="1"/>
          <p:nvPr/>
        </p:nvSpPr>
        <p:spPr>
          <a:xfrm>
            <a:off x="66173" y="1105064"/>
            <a:ext cx="12576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Version </a:t>
            </a:r>
          </a:p>
          <a:p>
            <a:r>
              <a:rPr lang="en-CH" dirty="0"/>
              <a:t>One-Earth </a:t>
            </a:r>
          </a:p>
          <a:p>
            <a:r>
              <a:rPr lang="en-GB" dirty="0"/>
              <a:t>R</a:t>
            </a:r>
            <a:r>
              <a:rPr lang="en-CH" dirty="0"/>
              <a:t>evision 1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B72C4F5-8D01-CE67-E586-44B876DA01A7}"/>
              </a:ext>
            </a:extLst>
          </p:cNvPr>
          <p:cNvGrpSpPr>
            <a:grpSpLocks noChangeAspect="1"/>
          </p:cNvGrpSpPr>
          <p:nvPr/>
        </p:nvGrpSpPr>
        <p:grpSpPr>
          <a:xfrm>
            <a:off x="7234469" y="5448687"/>
            <a:ext cx="648000" cy="481305"/>
            <a:chOff x="7307965" y="5801704"/>
            <a:chExt cx="1022748" cy="759650"/>
          </a:xfrm>
        </p:grpSpPr>
        <p:sp>
          <p:nvSpPr>
            <p:cNvPr id="38" name="Rhombus">
              <a:extLst>
                <a:ext uri="{FF2B5EF4-FFF2-40B4-BE49-F238E27FC236}">
                  <a16:creationId xmlns:a16="http://schemas.microsoft.com/office/drawing/2014/main" id="{6ACCC79F-3A9E-91C9-5E6F-05CACBE9D3C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13468" y="5985354"/>
              <a:ext cx="1017245" cy="576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0" y="10800"/>
                  </a:lnTo>
                  <a:lnTo>
                    <a:pt x="10800" y="21600"/>
                  </a:lnTo>
                  <a:lnTo>
                    <a:pt x="21600" y="108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309575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200" dirty="0"/>
            </a:p>
          </p:txBody>
        </p:sp>
        <p:sp>
          <p:nvSpPr>
            <p:cNvPr id="56" name="Rhombus">
              <a:extLst>
                <a:ext uri="{FF2B5EF4-FFF2-40B4-BE49-F238E27FC236}">
                  <a16:creationId xmlns:a16="http://schemas.microsoft.com/office/drawing/2014/main" id="{07581898-68C4-0B79-BE1A-36B65EC93FC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07965" y="5895257"/>
              <a:ext cx="1017245" cy="576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0" y="10800"/>
                  </a:lnTo>
                  <a:lnTo>
                    <a:pt x="10800" y="21600"/>
                  </a:lnTo>
                  <a:lnTo>
                    <a:pt x="21600" y="108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309575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200" dirty="0"/>
            </a:p>
          </p:txBody>
        </p:sp>
        <p:sp>
          <p:nvSpPr>
            <p:cNvPr id="57" name="Rhombus">
              <a:extLst>
                <a:ext uri="{FF2B5EF4-FFF2-40B4-BE49-F238E27FC236}">
                  <a16:creationId xmlns:a16="http://schemas.microsoft.com/office/drawing/2014/main" id="{F56D7180-6163-052D-0DEB-95106A25F68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11142" y="5801704"/>
              <a:ext cx="1017245" cy="576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0" y="10800"/>
                  </a:lnTo>
                  <a:lnTo>
                    <a:pt x="10800" y="21600"/>
                  </a:lnTo>
                  <a:lnTo>
                    <a:pt x="21600" y="108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309575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200" dirty="0"/>
            </a:p>
          </p:txBody>
        </p:sp>
      </p:grp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7CB4F7F0-7AE7-F722-3E30-F032C9C872EB}"/>
              </a:ext>
            </a:extLst>
          </p:cNvPr>
          <p:cNvCxnSpPr>
            <a:cxnSpLocks/>
          </p:cNvCxnSpPr>
          <p:nvPr/>
        </p:nvCxnSpPr>
        <p:spPr>
          <a:xfrm>
            <a:off x="4219008" y="4878951"/>
            <a:ext cx="2920194" cy="0"/>
          </a:xfrm>
          <a:prstGeom prst="straightConnector1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89AADFB2-D7A1-EBCE-B494-4CD8830BB223}"/>
              </a:ext>
            </a:extLst>
          </p:cNvPr>
          <p:cNvSpPr txBox="1"/>
          <p:nvPr/>
        </p:nvSpPr>
        <p:spPr>
          <a:xfrm>
            <a:off x="8206246" y="3497976"/>
            <a:ext cx="14502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900" b="1" dirty="0"/>
              <a:t>C8</a:t>
            </a:r>
            <a:r>
              <a:rPr lang="en-CH" sz="900" dirty="0"/>
              <a:t>  Python package </a:t>
            </a:r>
            <a:r>
              <a:rPr lang="en-CH" sz="900" dirty="0">
                <a:latin typeface="PT Mono" panose="02060509020205020204" pitchFamily="49" charset="77"/>
              </a:rPr>
              <a:t>gee-biophys</a:t>
            </a:r>
            <a:endParaRPr lang="en-CH" sz="900" b="1" i="1" dirty="0"/>
          </a:p>
          <a:p>
            <a:pPr algn="ctr"/>
            <a:endParaRPr lang="en-CH" sz="900" i="1" dirty="0"/>
          </a:p>
          <a:p>
            <a:pPr algn="ctr"/>
            <a:endParaRPr lang="en-CH" sz="900" i="1" dirty="0"/>
          </a:p>
          <a:p>
            <a:pPr algn="ctr"/>
            <a:r>
              <a:rPr lang="en-GB" sz="900" i="1" dirty="0"/>
              <a:t>Customizable S2BIOPHYS retrievals</a:t>
            </a:r>
            <a:endParaRPr lang="en-CH" sz="900" i="1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9B704754-8720-AE85-6874-9726C383B386}"/>
              </a:ext>
            </a:extLst>
          </p:cNvPr>
          <p:cNvSpPr txBox="1"/>
          <p:nvPr/>
        </p:nvSpPr>
        <p:spPr>
          <a:xfrm>
            <a:off x="6739615" y="3483237"/>
            <a:ext cx="1630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900" b="1" dirty="0"/>
              <a:t>C4</a:t>
            </a:r>
            <a:r>
              <a:rPr lang="en-CH" sz="900" i="1" dirty="0"/>
              <a:t>  Annual near-peak NDVI </a:t>
            </a:r>
            <a:r>
              <a:rPr lang="en-US" sz="900" i="1" dirty="0"/>
              <a:t>image selection</a:t>
            </a:r>
            <a:endParaRPr lang="en-CH" sz="900" i="1" dirty="0"/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130F5F42-9C18-313D-B81A-C935D361E422}"/>
              </a:ext>
            </a:extLst>
          </p:cNvPr>
          <p:cNvGrpSpPr>
            <a:grpSpLocks noChangeAspect="1"/>
          </p:cNvGrpSpPr>
          <p:nvPr/>
        </p:nvGrpSpPr>
        <p:grpSpPr>
          <a:xfrm>
            <a:off x="7222993" y="3834465"/>
            <a:ext cx="648000" cy="476634"/>
            <a:chOff x="6980968" y="1623633"/>
            <a:chExt cx="1018593" cy="749223"/>
          </a:xfrm>
        </p:grpSpPr>
        <p:sp>
          <p:nvSpPr>
            <p:cNvPr id="124" name="Rhombus">
              <a:extLst>
                <a:ext uri="{FF2B5EF4-FFF2-40B4-BE49-F238E27FC236}">
                  <a16:creationId xmlns:a16="http://schemas.microsoft.com/office/drawing/2014/main" id="{4CCFFCD1-7CF4-4BD6-4D18-89C8D7BF7F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82316" y="1796856"/>
              <a:ext cx="1017245" cy="576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0" y="10800"/>
                  </a:lnTo>
                  <a:lnTo>
                    <a:pt x="10800" y="21600"/>
                  </a:lnTo>
                  <a:lnTo>
                    <a:pt x="21600" y="108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D5D5D5"/>
            </a:solidFill>
            <a:ln w="9525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309575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200" dirty="0"/>
            </a:p>
          </p:txBody>
        </p:sp>
        <p:sp>
          <p:nvSpPr>
            <p:cNvPr id="133" name="Rhombus">
              <a:extLst>
                <a:ext uri="{FF2B5EF4-FFF2-40B4-BE49-F238E27FC236}">
                  <a16:creationId xmlns:a16="http://schemas.microsoft.com/office/drawing/2014/main" id="{3229C35B-A9D8-95C4-B164-CE52E8601FC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82316" y="1753656"/>
              <a:ext cx="1017245" cy="576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0" y="10800"/>
                  </a:lnTo>
                  <a:lnTo>
                    <a:pt x="10800" y="21600"/>
                  </a:lnTo>
                  <a:lnTo>
                    <a:pt x="21600" y="108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D5D5D5"/>
            </a:solidFill>
            <a:ln w="9525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309575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200" dirty="0"/>
            </a:p>
          </p:txBody>
        </p:sp>
        <p:sp>
          <p:nvSpPr>
            <p:cNvPr id="134" name="Rhombus">
              <a:extLst>
                <a:ext uri="{FF2B5EF4-FFF2-40B4-BE49-F238E27FC236}">
                  <a16:creationId xmlns:a16="http://schemas.microsoft.com/office/drawing/2014/main" id="{44101C23-25EE-ABA6-9E7F-ECE5FD5AB0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82316" y="1732056"/>
              <a:ext cx="1017245" cy="576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0" y="10800"/>
                  </a:lnTo>
                  <a:lnTo>
                    <a:pt x="10800" y="21600"/>
                  </a:lnTo>
                  <a:lnTo>
                    <a:pt x="21600" y="108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D5D5D5"/>
            </a:solidFill>
            <a:ln w="9525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309575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200" dirty="0"/>
            </a:p>
          </p:txBody>
        </p:sp>
        <p:sp>
          <p:nvSpPr>
            <p:cNvPr id="136" name="Rhombus">
              <a:extLst>
                <a:ext uri="{FF2B5EF4-FFF2-40B4-BE49-F238E27FC236}">
                  <a16:creationId xmlns:a16="http://schemas.microsoft.com/office/drawing/2014/main" id="{B6A6C141-56A5-63D3-A32A-750A0B17C0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80968" y="1666833"/>
              <a:ext cx="1017245" cy="576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0" y="10800"/>
                  </a:lnTo>
                  <a:lnTo>
                    <a:pt x="10800" y="21600"/>
                  </a:lnTo>
                  <a:lnTo>
                    <a:pt x="21600" y="108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D5D5D5"/>
            </a:solidFill>
            <a:ln w="9525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309575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200" dirty="0"/>
            </a:p>
          </p:txBody>
        </p:sp>
        <p:sp>
          <p:nvSpPr>
            <p:cNvPr id="137" name="Rhombus">
              <a:extLst>
                <a:ext uri="{FF2B5EF4-FFF2-40B4-BE49-F238E27FC236}">
                  <a16:creationId xmlns:a16="http://schemas.microsoft.com/office/drawing/2014/main" id="{C1A6FB17-99BB-1DBD-63E8-F4376998BA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81642" y="1623633"/>
              <a:ext cx="1017245" cy="576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0" y="10800"/>
                  </a:lnTo>
                  <a:lnTo>
                    <a:pt x="10800" y="21600"/>
                  </a:lnTo>
                  <a:lnTo>
                    <a:pt x="21600" y="10800"/>
                  </a:lnTo>
                  <a:lnTo>
                    <a:pt x="10800" y="0"/>
                  </a:lnTo>
                  <a:close/>
                </a:path>
              </a:pathLst>
            </a:custGeom>
            <a:blipFill>
              <a:blip r:embed="rId6">
                <a:grayscl/>
              </a:blip>
              <a:stretch>
                <a:fillRect/>
              </a:stretch>
            </a:blipFill>
            <a:ln w="9525" cap="flat">
              <a:solidFill>
                <a:srgbClr val="000000">
                  <a:alpha val="72000"/>
                </a:srgbClr>
              </a:solidFill>
              <a:prstDash val="solid"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309575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200" dirty="0"/>
            </a:p>
          </p:txBody>
        </p:sp>
      </p:grp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46D0AA5A-EC71-22B6-E340-07942FCF44A8}"/>
              </a:ext>
            </a:extLst>
          </p:cNvPr>
          <p:cNvCxnSpPr>
            <a:cxnSpLocks/>
          </p:cNvCxnSpPr>
          <p:nvPr/>
        </p:nvCxnSpPr>
        <p:spPr>
          <a:xfrm>
            <a:off x="7552012" y="4347505"/>
            <a:ext cx="0" cy="230201"/>
          </a:xfrm>
          <a:prstGeom prst="straightConnector1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946BE350-42F5-D44E-7FBC-FC013D63DCA0}"/>
              </a:ext>
            </a:extLst>
          </p:cNvPr>
          <p:cNvCxnSpPr>
            <a:cxnSpLocks/>
          </p:cNvCxnSpPr>
          <p:nvPr/>
        </p:nvCxnSpPr>
        <p:spPr>
          <a:xfrm>
            <a:off x="8191508" y="3121200"/>
            <a:ext cx="524468" cy="400254"/>
          </a:xfrm>
          <a:prstGeom prst="straightConnector1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7CAEDE03-A865-B66A-C11B-17E723C1F332}"/>
              </a:ext>
            </a:extLst>
          </p:cNvPr>
          <p:cNvGrpSpPr>
            <a:grpSpLocks noChangeAspect="1"/>
          </p:cNvGrpSpPr>
          <p:nvPr/>
        </p:nvGrpSpPr>
        <p:grpSpPr>
          <a:xfrm>
            <a:off x="7228012" y="4609708"/>
            <a:ext cx="648000" cy="476634"/>
            <a:chOff x="6980968" y="1623633"/>
            <a:chExt cx="1018593" cy="749223"/>
          </a:xfrm>
        </p:grpSpPr>
        <p:sp>
          <p:nvSpPr>
            <p:cNvPr id="170" name="Rhombus">
              <a:extLst>
                <a:ext uri="{FF2B5EF4-FFF2-40B4-BE49-F238E27FC236}">
                  <a16:creationId xmlns:a16="http://schemas.microsoft.com/office/drawing/2014/main" id="{49C3056E-87A9-CE40-AE3D-6F963B437F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82316" y="1796856"/>
              <a:ext cx="1017245" cy="576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0" y="10800"/>
                  </a:lnTo>
                  <a:lnTo>
                    <a:pt x="10800" y="21600"/>
                  </a:lnTo>
                  <a:lnTo>
                    <a:pt x="21600" y="108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D5D5D5"/>
            </a:solidFill>
            <a:ln w="9525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309575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200" dirty="0"/>
            </a:p>
          </p:txBody>
        </p:sp>
        <p:sp>
          <p:nvSpPr>
            <p:cNvPr id="171" name="Rhombus">
              <a:extLst>
                <a:ext uri="{FF2B5EF4-FFF2-40B4-BE49-F238E27FC236}">
                  <a16:creationId xmlns:a16="http://schemas.microsoft.com/office/drawing/2014/main" id="{5A2F347B-87E5-CC71-6C0E-74373B597D9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82316" y="1753656"/>
              <a:ext cx="1017245" cy="576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0" y="10800"/>
                  </a:lnTo>
                  <a:lnTo>
                    <a:pt x="10800" y="21600"/>
                  </a:lnTo>
                  <a:lnTo>
                    <a:pt x="21600" y="108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D5D5D5"/>
            </a:solidFill>
            <a:ln w="9525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309575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200" dirty="0"/>
            </a:p>
          </p:txBody>
        </p:sp>
        <p:sp>
          <p:nvSpPr>
            <p:cNvPr id="172" name="Rhombus">
              <a:extLst>
                <a:ext uri="{FF2B5EF4-FFF2-40B4-BE49-F238E27FC236}">
                  <a16:creationId xmlns:a16="http://schemas.microsoft.com/office/drawing/2014/main" id="{C8990088-0371-B8D7-FCEC-A53511694D9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82316" y="1732056"/>
              <a:ext cx="1017245" cy="576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0" y="10800"/>
                  </a:lnTo>
                  <a:lnTo>
                    <a:pt x="10800" y="21600"/>
                  </a:lnTo>
                  <a:lnTo>
                    <a:pt x="21600" y="108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D5D5D5"/>
            </a:solidFill>
            <a:ln w="9525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309575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200" dirty="0"/>
            </a:p>
          </p:txBody>
        </p:sp>
        <p:sp>
          <p:nvSpPr>
            <p:cNvPr id="173" name="Rhombus">
              <a:extLst>
                <a:ext uri="{FF2B5EF4-FFF2-40B4-BE49-F238E27FC236}">
                  <a16:creationId xmlns:a16="http://schemas.microsoft.com/office/drawing/2014/main" id="{CC80A718-9B0B-9232-9F2C-8482EFF4E27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80968" y="1666833"/>
              <a:ext cx="1017245" cy="576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0" y="10800"/>
                  </a:lnTo>
                  <a:lnTo>
                    <a:pt x="10800" y="21600"/>
                  </a:lnTo>
                  <a:lnTo>
                    <a:pt x="21600" y="108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D5D5D5"/>
            </a:solidFill>
            <a:ln w="9525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309575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200" dirty="0"/>
            </a:p>
          </p:txBody>
        </p:sp>
        <p:sp>
          <p:nvSpPr>
            <p:cNvPr id="174" name="Rhombus">
              <a:extLst>
                <a:ext uri="{FF2B5EF4-FFF2-40B4-BE49-F238E27FC236}">
                  <a16:creationId xmlns:a16="http://schemas.microsoft.com/office/drawing/2014/main" id="{FBD04B90-1FB0-4780-DD83-8DF783450C1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81642" y="1623633"/>
              <a:ext cx="1017245" cy="576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0" y="10800"/>
                  </a:lnTo>
                  <a:lnTo>
                    <a:pt x="10800" y="21600"/>
                  </a:lnTo>
                  <a:lnTo>
                    <a:pt x="21600" y="10800"/>
                  </a:lnTo>
                  <a:lnTo>
                    <a:pt x="10800" y="0"/>
                  </a:lnTo>
                  <a:close/>
                </a:path>
              </a:pathLst>
            </a:custGeom>
            <a:blipFill>
              <a:blip r:embed="rId10">
                <a:duotone>
                  <a:prstClr val="black"/>
                  <a:schemeClr val="accent3">
                    <a:tint val="45000"/>
                    <a:satMod val="400000"/>
                  </a:schemeClr>
                </a:duotone>
              </a:blip>
              <a:stretch>
                <a:fillRect/>
              </a:stretch>
            </a:blipFill>
            <a:ln w="9525" cap="flat">
              <a:solidFill>
                <a:srgbClr val="000000">
                  <a:alpha val="72000"/>
                </a:srgbClr>
              </a:solidFill>
              <a:prstDash val="solid"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309575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200" dirty="0"/>
            </a:p>
          </p:txBody>
        </p:sp>
      </p:grp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2321152D-0F5C-9A7C-96F1-2E9D04478F2D}"/>
              </a:ext>
            </a:extLst>
          </p:cNvPr>
          <p:cNvCxnSpPr>
            <a:cxnSpLocks/>
          </p:cNvCxnSpPr>
          <p:nvPr/>
        </p:nvCxnSpPr>
        <p:spPr>
          <a:xfrm>
            <a:off x="7556812" y="5130194"/>
            <a:ext cx="0" cy="230201"/>
          </a:xfrm>
          <a:prstGeom prst="straightConnector1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TextBox 177">
            <a:extLst>
              <a:ext uri="{FF2B5EF4-FFF2-40B4-BE49-F238E27FC236}">
                <a16:creationId xmlns:a16="http://schemas.microsoft.com/office/drawing/2014/main" id="{D5912CDD-F6D8-B8F6-A5BF-DD7402649EE1}"/>
              </a:ext>
            </a:extLst>
          </p:cNvPr>
          <p:cNvSpPr txBox="1"/>
          <p:nvPr/>
        </p:nvSpPr>
        <p:spPr>
          <a:xfrm>
            <a:off x="4938376" y="5516716"/>
            <a:ext cx="2127506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 algn="ctr"/>
            <a:r>
              <a:rPr lang="en-CH" sz="900" b="1" dirty="0"/>
              <a:t>C7  </a:t>
            </a:r>
            <a:r>
              <a:rPr lang="en-CH" sz="900" dirty="0"/>
              <a:t>Global maps LAIe, FAPAR, FCOVER</a:t>
            </a:r>
          </a:p>
          <a:p>
            <a:pPr algn="ctr"/>
            <a:r>
              <a:rPr lang="en-CH" sz="900" i="1" dirty="0"/>
              <a:t>(mean, std, count)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55E12ACB-3000-8204-478B-7FB046196883}"/>
              </a:ext>
            </a:extLst>
          </p:cNvPr>
          <p:cNvSpPr txBox="1"/>
          <p:nvPr/>
        </p:nvSpPr>
        <p:spPr>
          <a:xfrm>
            <a:off x="4141480" y="4877521"/>
            <a:ext cx="25524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C5  </a:t>
            </a:r>
            <a:r>
              <a:rPr lang="en-US" sz="900" i="1" dirty="0"/>
              <a:t>Apply S2BIOPHYS ensemble to each image</a:t>
            </a:r>
            <a:endParaRPr lang="en-CH" sz="900" i="1" dirty="0"/>
          </a:p>
        </p:txBody>
      </p: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A01F9BD8-CD82-B488-42B5-C28DAF38D645}"/>
              </a:ext>
            </a:extLst>
          </p:cNvPr>
          <p:cNvGrpSpPr/>
          <p:nvPr/>
        </p:nvGrpSpPr>
        <p:grpSpPr>
          <a:xfrm>
            <a:off x="8387222" y="5548643"/>
            <a:ext cx="1293868" cy="304205"/>
            <a:chOff x="8346989" y="5795040"/>
            <a:chExt cx="1293868" cy="304205"/>
          </a:xfrm>
        </p:grpSpPr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DDA652A2-52F1-3452-D741-E9591355880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973366" y="5795719"/>
              <a:ext cx="268145" cy="199166"/>
              <a:chOff x="7307965" y="5801704"/>
              <a:chExt cx="1022748" cy="759650"/>
            </a:xfrm>
          </p:grpSpPr>
          <p:sp>
            <p:nvSpPr>
              <p:cNvPr id="181" name="Rhombus">
                <a:extLst>
                  <a:ext uri="{FF2B5EF4-FFF2-40B4-BE49-F238E27FC236}">
                    <a16:creationId xmlns:a16="http://schemas.microsoft.com/office/drawing/2014/main" id="{204277F7-ABC9-6D3A-3C59-4C1E634D46F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13468" y="5985354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182" name="Rhombus">
                <a:extLst>
                  <a:ext uri="{FF2B5EF4-FFF2-40B4-BE49-F238E27FC236}">
                    <a16:creationId xmlns:a16="http://schemas.microsoft.com/office/drawing/2014/main" id="{D10A262B-B305-8F63-A984-89BAC594CEF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07965" y="5895257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183" name="Rhombus">
                <a:extLst>
                  <a:ext uri="{FF2B5EF4-FFF2-40B4-BE49-F238E27FC236}">
                    <a16:creationId xmlns:a16="http://schemas.microsoft.com/office/drawing/2014/main" id="{2FF20A2D-6729-B7FA-4223-1602E99933B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11142" y="5801704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</p:grp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95220BBA-3ACA-1E69-050C-490A72B0935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267905" y="5795040"/>
              <a:ext cx="268145" cy="199166"/>
              <a:chOff x="7307965" y="5801704"/>
              <a:chExt cx="1022748" cy="759650"/>
            </a:xfrm>
          </p:grpSpPr>
          <p:sp>
            <p:nvSpPr>
              <p:cNvPr id="186" name="Rhombus">
                <a:extLst>
                  <a:ext uri="{FF2B5EF4-FFF2-40B4-BE49-F238E27FC236}">
                    <a16:creationId xmlns:a16="http://schemas.microsoft.com/office/drawing/2014/main" id="{23F9884E-7F07-DFCB-1CEB-3E212A182BB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13468" y="5985354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188" name="Rhombus">
                <a:extLst>
                  <a:ext uri="{FF2B5EF4-FFF2-40B4-BE49-F238E27FC236}">
                    <a16:creationId xmlns:a16="http://schemas.microsoft.com/office/drawing/2014/main" id="{4BACB141-4EE1-AC0A-A6AA-8C6B022331C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07965" y="5895257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189" name="Rhombus">
                <a:extLst>
                  <a:ext uri="{FF2B5EF4-FFF2-40B4-BE49-F238E27FC236}">
                    <a16:creationId xmlns:a16="http://schemas.microsoft.com/office/drawing/2014/main" id="{36494317-A1CE-EBCF-1859-B145FBB7D9D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11142" y="5801704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</p:grp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A374846B-F395-2169-2817-F11F336BA40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391712" y="5796687"/>
              <a:ext cx="268145" cy="199166"/>
              <a:chOff x="7307965" y="5801704"/>
              <a:chExt cx="1022748" cy="759650"/>
            </a:xfrm>
          </p:grpSpPr>
          <p:sp>
            <p:nvSpPr>
              <p:cNvPr id="191" name="Rhombus">
                <a:extLst>
                  <a:ext uri="{FF2B5EF4-FFF2-40B4-BE49-F238E27FC236}">
                    <a16:creationId xmlns:a16="http://schemas.microsoft.com/office/drawing/2014/main" id="{D45ACAB6-D077-BD81-3226-E09C70A0DAF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13468" y="5985354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192" name="Rhombus">
                <a:extLst>
                  <a:ext uri="{FF2B5EF4-FFF2-40B4-BE49-F238E27FC236}">
                    <a16:creationId xmlns:a16="http://schemas.microsoft.com/office/drawing/2014/main" id="{4AF00F9C-7E2B-5401-71A1-E9347B4969A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07965" y="5895257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195" name="Rhombus">
                <a:extLst>
                  <a:ext uri="{FF2B5EF4-FFF2-40B4-BE49-F238E27FC236}">
                    <a16:creationId xmlns:a16="http://schemas.microsoft.com/office/drawing/2014/main" id="{7B2F8CFB-E0AA-3AA0-E737-29C9040F496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11142" y="5801704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</p:grpSp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id="{690C1721-9B10-CA53-FEA5-8D2F25F0EEF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683656" y="5796687"/>
              <a:ext cx="268145" cy="199166"/>
              <a:chOff x="7307965" y="5801704"/>
              <a:chExt cx="1022748" cy="759650"/>
            </a:xfrm>
          </p:grpSpPr>
          <p:sp>
            <p:nvSpPr>
              <p:cNvPr id="202" name="Rhombus">
                <a:extLst>
                  <a:ext uri="{FF2B5EF4-FFF2-40B4-BE49-F238E27FC236}">
                    <a16:creationId xmlns:a16="http://schemas.microsoft.com/office/drawing/2014/main" id="{58557BF8-D635-74E4-2373-84A4B15E4FF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13468" y="5985354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203" name="Rhombus">
                <a:extLst>
                  <a:ext uri="{FF2B5EF4-FFF2-40B4-BE49-F238E27FC236}">
                    <a16:creationId xmlns:a16="http://schemas.microsoft.com/office/drawing/2014/main" id="{0225B422-7203-4FE6-8359-43D79558017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07965" y="5895257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  <p:sp>
            <p:nvSpPr>
              <p:cNvPr id="204" name="Rhombus">
                <a:extLst>
                  <a:ext uri="{FF2B5EF4-FFF2-40B4-BE49-F238E27FC236}">
                    <a16:creationId xmlns:a16="http://schemas.microsoft.com/office/drawing/2014/main" id="{06D6A85C-5989-2C08-91CB-A06EF9466D6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11142" y="5801704"/>
                <a:ext cx="1017245" cy="576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10800"/>
                    </a:lnTo>
                    <a:lnTo>
                      <a:pt x="10800" y="21600"/>
                    </a:lnTo>
                    <a:lnTo>
                      <a:pt x="21600" y="10800"/>
                    </a:lnTo>
                    <a:lnTo>
                      <a:pt x="10800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952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/>
              <a:p>
                <a:pPr defTabSz="309575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200" dirty="0"/>
              </a:p>
            </p:txBody>
          </p:sp>
        </p:grpSp>
        <p:cxnSp>
          <p:nvCxnSpPr>
            <p:cNvPr id="205" name="Straight Arrow Connector 204">
              <a:extLst>
                <a:ext uri="{FF2B5EF4-FFF2-40B4-BE49-F238E27FC236}">
                  <a16:creationId xmlns:a16="http://schemas.microsoft.com/office/drawing/2014/main" id="{710D998E-B107-1B0A-7D42-AEDCC55DA465}"/>
                </a:ext>
              </a:extLst>
            </p:cNvPr>
            <p:cNvCxnSpPr>
              <a:cxnSpLocks/>
            </p:cNvCxnSpPr>
            <p:nvPr/>
          </p:nvCxnSpPr>
          <p:spPr>
            <a:xfrm>
              <a:off x="8346989" y="6099245"/>
              <a:ext cx="129386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13" name="TextBox 212">
            <a:extLst>
              <a:ext uri="{FF2B5EF4-FFF2-40B4-BE49-F238E27FC236}">
                <a16:creationId xmlns:a16="http://schemas.microsoft.com/office/drawing/2014/main" id="{00E2CAC4-1E66-F685-A90B-6FD7765AA974}"/>
              </a:ext>
            </a:extLst>
          </p:cNvPr>
          <p:cNvSpPr txBox="1"/>
          <p:nvPr/>
        </p:nvSpPr>
        <p:spPr>
          <a:xfrm>
            <a:off x="6162474" y="5120115"/>
            <a:ext cx="13564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H" sz="900" b="1" dirty="0"/>
              <a:t>C6  </a:t>
            </a:r>
            <a:r>
              <a:rPr lang="en-US" sz="900" i="1" dirty="0"/>
              <a:t>Aggregate retrievals</a:t>
            </a:r>
            <a:endParaRPr lang="en-CH" sz="900" i="1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561D23F-E910-1C06-4005-82D0E75E88C4}"/>
              </a:ext>
            </a:extLst>
          </p:cNvPr>
          <p:cNvCxnSpPr>
            <a:cxnSpLocks/>
            <a:stCxn id="193" idx="2"/>
            <a:endCxn id="298" idx="0"/>
          </p:cNvCxnSpPr>
          <p:nvPr/>
        </p:nvCxnSpPr>
        <p:spPr>
          <a:xfrm>
            <a:off x="3317762" y="5561869"/>
            <a:ext cx="0" cy="234000"/>
          </a:xfrm>
          <a:prstGeom prst="straightConnector1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AE777D8-533B-FB9B-9BE7-CD118B86BC56}"/>
              </a:ext>
            </a:extLst>
          </p:cNvPr>
          <p:cNvGrpSpPr>
            <a:grpSpLocks noChangeAspect="1"/>
          </p:cNvGrpSpPr>
          <p:nvPr/>
        </p:nvGrpSpPr>
        <p:grpSpPr>
          <a:xfrm>
            <a:off x="5418012" y="3269946"/>
            <a:ext cx="460726" cy="456059"/>
            <a:chOff x="983156" y="1984158"/>
            <a:chExt cx="335834" cy="332432"/>
          </a:xfrm>
          <a:solidFill>
            <a:schemeClr val="bg2">
              <a:lumMod val="90000"/>
            </a:schemeClr>
          </a:solidFill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21D58F1D-00BA-5664-0D41-66F45CC1E24E}"/>
                </a:ext>
              </a:extLst>
            </p:cNvPr>
            <p:cNvSpPr/>
            <p:nvPr/>
          </p:nvSpPr>
          <p:spPr>
            <a:xfrm>
              <a:off x="983156" y="1984158"/>
              <a:ext cx="335834" cy="332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>
              <a:solidFill>
                <a:schemeClr val="bg2">
                  <a:lumMod val="50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CH" sz="1400" b="0" i="0" u="none" strike="noStrike" cap="none" spc="0" normalizeH="0" baseline="0" dirty="0">
                <a:ln>
                  <a:noFill/>
                </a:ln>
                <a:solidFill>
                  <a:srgbClr val="122334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endParaRPr>
            </a:p>
          </p:txBody>
        </p: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39CDE2B1-8984-0777-102D-3442377BDE3F}"/>
                </a:ext>
              </a:extLst>
            </p:cNvPr>
            <p:cNvCxnSpPr>
              <a:cxnSpLocks/>
            </p:cNvCxnSpPr>
            <p:nvPr/>
          </p:nvCxnSpPr>
          <p:spPr>
            <a:xfrm>
              <a:off x="983156" y="2054137"/>
              <a:ext cx="335834" cy="0"/>
            </a:xfrm>
            <a:prstGeom prst="line">
              <a:avLst/>
            </a:prstGeom>
            <a:grpFill/>
            <a:ln w="12700" cap="flat">
              <a:solidFill>
                <a:schemeClr val="bg2">
                  <a:lumMod val="50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91EDE36A-EFB7-CAC4-603D-99D2D8A93E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1681" y="1984158"/>
              <a:ext cx="0" cy="332432"/>
            </a:xfrm>
            <a:prstGeom prst="line">
              <a:avLst/>
            </a:prstGeom>
            <a:grpFill/>
            <a:ln w="12700" cap="flat">
              <a:solidFill>
                <a:schemeClr val="bg2">
                  <a:lumMod val="50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AEC41CD-2442-A49A-A858-74BA1CD95A22}"/>
              </a:ext>
            </a:extLst>
          </p:cNvPr>
          <p:cNvGrpSpPr>
            <a:grpSpLocks noChangeAspect="1"/>
          </p:cNvGrpSpPr>
          <p:nvPr/>
        </p:nvGrpSpPr>
        <p:grpSpPr>
          <a:xfrm>
            <a:off x="5477869" y="3321327"/>
            <a:ext cx="460726" cy="456059"/>
            <a:chOff x="983156" y="1984158"/>
            <a:chExt cx="335834" cy="332432"/>
          </a:xfrm>
          <a:solidFill>
            <a:schemeClr val="bg2">
              <a:lumMod val="90000"/>
            </a:schemeClr>
          </a:solidFill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16D6A06-7846-729C-745B-4D9799277825}"/>
                </a:ext>
              </a:extLst>
            </p:cNvPr>
            <p:cNvSpPr/>
            <p:nvPr/>
          </p:nvSpPr>
          <p:spPr>
            <a:xfrm>
              <a:off x="983156" y="1984158"/>
              <a:ext cx="335834" cy="332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>
              <a:solidFill>
                <a:schemeClr val="bg2">
                  <a:lumMod val="50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CH" sz="1400" b="0" i="0" u="none" strike="noStrike" cap="none" spc="0" normalizeH="0" baseline="0" dirty="0">
                <a:ln>
                  <a:noFill/>
                </a:ln>
                <a:solidFill>
                  <a:srgbClr val="122334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endParaRP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8FC7987-FB36-C3D7-2586-75DF86CC84E8}"/>
                </a:ext>
              </a:extLst>
            </p:cNvPr>
            <p:cNvCxnSpPr>
              <a:cxnSpLocks/>
            </p:cNvCxnSpPr>
            <p:nvPr/>
          </p:nvCxnSpPr>
          <p:spPr>
            <a:xfrm>
              <a:off x="983156" y="2054137"/>
              <a:ext cx="335834" cy="0"/>
            </a:xfrm>
            <a:prstGeom prst="line">
              <a:avLst/>
            </a:prstGeom>
            <a:grpFill/>
            <a:ln w="12700" cap="flat">
              <a:solidFill>
                <a:schemeClr val="bg2">
                  <a:lumMod val="50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43B4F62-08B3-BE9E-5BF4-B5C769F063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1681" y="1984158"/>
              <a:ext cx="0" cy="332432"/>
            </a:xfrm>
            <a:prstGeom prst="line">
              <a:avLst/>
            </a:prstGeom>
            <a:grpFill/>
            <a:ln w="12700" cap="flat">
              <a:solidFill>
                <a:schemeClr val="bg2">
                  <a:lumMod val="50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E2A2C91-BCB0-206F-72A1-53814B1C95E1}"/>
              </a:ext>
            </a:extLst>
          </p:cNvPr>
          <p:cNvGrpSpPr>
            <a:grpSpLocks noChangeAspect="1"/>
          </p:cNvGrpSpPr>
          <p:nvPr/>
        </p:nvGrpSpPr>
        <p:grpSpPr>
          <a:xfrm>
            <a:off x="5538665" y="3383020"/>
            <a:ext cx="460726" cy="456059"/>
            <a:chOff x="983156" y="1984158"/>
            <a:chExt cx="335834" cy="332432"/>
          </a:xfrm>
          <a:solidFill>
            <a:schemeClr val="bg2">
              <a:lumMod val="90000"/>
            </a:schemeClr>
          </a:solidFill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2DA95284-BD53-A846-3876-1B1256B2FBA8}"/>
                </a:ext>
              </a:extLst>
            </p:cNvPr>
            <p:cNvSpPr/>
            <p:nvPr/>
          </p:nvSpPr>
          <p:spPr>
            <a:xfrm>
              <a:off x="983156" y="1984158"/>
              <a:ext cx="335834" cy="332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>
              <a:solidFill>
                <a:schemeClr val="bg2">
                  <a:lumMod val="50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CH" sz="1400" b="0" i="0" u="none" strike="noStrike" cap="none" spc="0" normalizeH="0" baseline="0" dirty="0">
                <a:ln>
                  <a:noFill/>
                </a:ln>
                <a:solidFill>
                  <a:srgbClr val="122334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F2F7D1D6-D412-6388-3FD9-97E74FA50D98}"/>
                </a:ext>
              </a:extLst>
            </p:cNvPr>
            <p:cNvCxnSpPr>
              <a:cxnSpLocks/>
            </p:cNvCxnSpPr>
            <p:nvPr/>
          </p:nvCxnSpPr>
          <p:spPr>
            <a:xfrm>
              <a:off x="983156" y="2054137"/>
              <a:ext cx="335834" cy="0"/>
            </a:xfrm>
            <a:prstGeom prst="line">
              <a:avLst/>
            </a:prstGeom>
            <a:grpFill/>
            <a:ln w="12700" cap="flat">
              <a:solidFill>
                <a:schemeClr val="bg2">
                  <a:lumMod val="50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F53DAE8C-3A07-2AFE-6A7C-0C6DCB78CC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1681" y="1984158"/>
              <a:ext cx="0" cy="332432"/>
            </a:xfrm>
            <a:prstGeom prst="line">
              <a:avLst/>
            </a:prstGeom>
            <a:grpFill/>
            <a:ln w="12700" cap="flat">
              <a:solidFill>
                <a:schemeClr val="bg2">
                  <a:lumMod val="50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1E20ABA-F759-89C9-4F64-8B96BFD9E93E}"/>
              </a:ext>
            </a:extLst>
          </p:cNvPr>
          <p:cNvGrpSpPr>
            <a:grpSpLocks noChangeAspect="1"/>
          </p:cNvGrpSpPr>
          <p:nvPr/>
        </p:nvGrpSpPr>
        <p:grpSpPr>
          <a:xfrm>
            <a:off x="5596365" y="3452617"/>
            <a:ext cx="460726" cy="456059"/>
            <a:chOff x="983156" y="1984158"/>
            <a:chExt cx="335834" cy="332432"/>
          </a:xfrm>
          <a:solidFill>
            <a:schemeClr val="bg2">
              <a:lumMod val="90000"/>
            </a:schemeClr>
          </a:solidFill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4644405F-23B4-0E37-B2F7-1ADE1843D264}"/>
                </a:ext>
              </a:extLst>
            </p:cNvPr>
            <p:cNvSpPr/>
            <p:nvPr/>
          </p:nvSpPr>
          <p:spPr>
            <a:xfrm>
              <a:off x="983156" y="1984158"/>
              <a:ext cx="335834" cy="332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>
              <a:solidFill>
                <a:schemeClr val="bg2">
                  <a:lumMod val="50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CH" sz="1400" b="0" i="0" u="none" strike="noStrike" cap="none" spc="0" normalizeH="0" baseline="0" dirty="0">
                <a:ln>
                  <a:noFill/>
                </a:ln>
                <a:solidFill>
                  <a:srgbClr val="122334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endParaRPr>
            </a:p>
          </p:txBody>
        </p: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5730D4C6-C7D3-AB50-A5A1-F838C6CAD5BA}"/>
                </a:ext>
              </a:extLst>
            </p:cNvPr>
            <p:cNvCxnSpPr>
              <a:cxnSpLocks/>
            </p:cNvCxnSpPr>
            <p:nvPr/>
          </p:nvCxnSpPr>
          <p:spPr>
            <a:xfrm>
              <a:off x="983156" y="2054137"/>
              <a:ext cx="335834" cy="0"/>
            </a:xfrm>
            <a:prstGeom prst="line">
              <a:avLst/>
            </a:prstGeom>
            <a:grpFill/>
            <a:ln w="12700" cap="flat">
              <a:solidFill>
                <a:schemeClr val="bg2">
                  <a:lumMod val="50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ECC019A4-2148-088C-DD81-AECB635013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1681" y="1984158"/>
              <a:ext cx="0" cy="332432"/>
            </a:xfrm>
            <a:prstGeom prst="line">
              <a:avLst/>
            </a:prstGeom>
            <a:grpFill/>
            <a:ln w="12700" cap="flat">
              <a:solidFill>
                <a:schemeClr val="bg2">
                  <a:lumMod val="50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8B5C88C2-6003-F3DD-B30E-823100D13773}"/>
              </a:ext>
            </a:extLst>
          </p:cNvPr>
          <p:cNvGrpSpPr/>
          <p:nvPr/>
        </p:nvGrpSpPr>
        <p:grpSpPr>
          <a:xfrm>
            <a:off x="5815475" y="2357022"/>
            <a:ext cx="555915" cy="561914"/>
            <a:chOff x="5595512" y="2305314"/>
            <a:chExt cx="555915" cy="561914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10CB75BB-D4A2-8738-AE0F-AE272A5C2B2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595512" y="2305314"/>
              <a:ext cx="415481" cy="411272"/>
              <a:chOff x="983156" y="1984158"/>
              <a:chExt cx="335834" cy="332432"/>
            </a:xfrm>
            <a:solidFill>
              <a:schemeClr val="bg2">
                <a:lumMod val="90000"/>
              </a:schemeClr>
            </a:solidFill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59B79642-5870-780F-F468-2F918079A0B4}"/>
                  </a:ext>
                </a:extLst>
              </p:cNvPr>
              <p:cNvSpPr/>
              <p:nvPr/>
            </p:nvSpPr>
            <p:spPr>
              <a:xfrm>
                <a:off x="983156" y="1984158"/>
                <a:ext cx="335834" cy="332432"/>
              </a:xfrm>
              <a:prstGeom prst="rect">
                <a:avLst/>
              </a:prstGeom>
              <a:grpFill/>
              <a:ln w="12700" cap="flat">
                <a:solidFill>
                  <a:schemeClr val="bg2">
                    <a:lumMod val="50000"/>
                  </a:schemeClr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CH" sz="1400" b="0" i="0" u="none" strike="noStrike" cap="none" spc="0" normalizeH="0" baseline="0" dirty="0">
                  <a:ln>
                    <a:noFill/>
                  </a:ln>
                  <a:solidFill>
                    <a:srgbClr val="122334"/>
                  </a:solidFill>
                  <a:effectLst/>
                  <a:uFillTx/>
                  <a:latin typeface="+mn-lt"/>
                  <a:ea typeface="+mn-ea"/>
                  <a:cs typeface="+mn-cs"/>
                  <a:sym typeface="Arial"/>
                </a:endParaRPr>
              </a:p>
            </p:txBody>
          </p: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C9F0E06F-C6A6-F006-5101-B1840A1019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3156" y="2054137"/>
                <a:ext cx="335834" cy="0"/>
              </a:xfrm>
              <a:prstGeom prst="line">
                <a:avLst/>
              </a:prstGeom>
              <a:grpFill/>
              <a:ln w="12700" cap="flat">
                <a:solidFill>
                  <a:schemeClr val="bg2">
                    <a:lumMod val="50000"/>
                  </a:schemeClr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A652C492-9B39-D5DF-6253-E83F59ECBE2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51681" y="1984158"/>
                <a:ext cx="0" cy="332432"/>
              </a:xfrm>
              <a:prstGeom prst="line">
                <a:avLst/>
              </a:prstGeom>
              <a:grpFill/>
              <a:ln w="12700" cap="flat">
                <a:solidFill>
                  <a:schemeClr val="bg2">
                    <a:lumMod val="50000"/>
                  </a:schemeClr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A60BAA18-5BA8-0D6D-7778-797EE402A54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626350" y="2341709"/>
              <a:ext cx="415481" cy="411272"/>
              <a:chOff x="983156" y="1984158"/>
              <a:chExt cx="335834" cy="332432"/>
            </a:xfrm>
            <a:solidFill>
              <a:schemeClr val="bg2">
                <a:lumMod val="90000"/>
              </a:schemeClr>
            </a:solidFill>
          </p:grpSpPr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67AA85DC-281E-082C-B1EE-13567F0D8974}"/>
                  </a:ext>
                </a:extLst>
              </p:cNvPr>
              <p:cNvSpPr/>
              <p:nvPr/>
            </p:nvSpPr>
            <p:spPr>
              <a:xfrm>
                <a:off x="983156" y="1984158"/>
                <a:ext cx="335834" cy="332432"/>
              </a:xfrm>
              <a:prstGeom prst="rect">
                <a:avLst/>
              </a:prstGeom>
              <a:grpFill/>
              <a:ln w="12700" cap="flat">
                <a:solidFill>
                  <a:schemeClr val="bg2">
                    <a:lumMod val="50000"/>
                  </a:schemeClr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CH" sz="1400" b="0" i="0" u="none" strike="noStrike" cap="none" spc="0" normalizeH="0" baseline="0" dirty="0">
                  <a:ln>
                    <a:noFill/>
                  </a:ln>
                  <a:solidFill>
                    <a:srgbClr val="122334"/>
                  </a:solidFill>
                  <a:effectLst/>
                  <a:uFillTx/>
                  <a:latin typeface="+mn-lt"/>
                  <a:ea typeface="+mn-ea"/>
                  <a:cs typeface="+mn-cs"/>
                  <a:sym typeface="Arial"/>
                </a:endParaRPr>
              </a:p>
            </p:txBody>
          </p: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40D07C61-FF8F-0894-9BE1-C640EE18DC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3156" y="2054137"/>
                <a:ext cx="335834" cy="0"/>
              </a:xfrm>
              <a:prstGeom prst="line">
                <a:avLst/>
              </a:prstGeom>
              <a:grpFill/>
              <a:ln w="12700" cap="flat">
                <a:solidFill>
                  <a:schemeClr val="bg2">
                    <a:lumMod val="50000"/>
                  </a:schemeClr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FA588B46-C33D-019C-30A4-593DC9D6B8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51681" y="1984158"/>
                <a:ext cx="0" cy="332432"/>
              </a:xfrm>
              <a:prstGeom prst="line">
                <a:avLst/>
              </a:prstGeom>
              <a:grpFill/>
              <a:ln w="12700" cap="flat">
                <a:solidFill>
                  <a:schemeClr val="bg2">
                    <a:lumMod val="50000"/>
                  </a:schemeClr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730FABBC-218C-1A09-DE3B-D3B484E0AA1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665611" y="2379428"/>
              <a:ext cx="415481" cy="411272"/>
              <a:chOff x="983156" y="1984158"/>
              <a:chExt cx="335834" cy="332432"/>
            </a:xfrm>
            <a:solidFill>
              <a:schemeClr val="bg2">
                <a:lumMod val="90000"/>
              </a:schemeClr>
            </a:solidFill>
          </p:grpSpPr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B898AAFC-CD83-178F-1CFB-D4FAA8534D92}"/>
                  </a:ext>
                </a:extLst>
              </p:cNvPr>
              <p:cNvSpPr/>
              <p:nvPr/>
            </p:nvSpPr>
            <p:spPr>
              <a:xfrm>
                <a:off x="983156" y="1984158"/>
                <a:ext cx="335834" cy="332432"/>
              </a:xfrm>
              <a:prstGeom prst="rect">
                <a:avLst/>
              </a:prstGeom>
              <a:grpFill/>
              <a:ln w="12700" cap="flat">
                <a:solidFill>
                  <a:schemeClr val="bg2">
                    <a:lumMod val="50000"/>
                  </a:schemeClr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CH" sz="1400" b="0" i="0" u="none" strike="noStrike" cap="none" spc="0" normalizeH="0" baseline="0" dirty="0">
                  <a:ln>
                    <a:noFill/>
                  </a:ln>
                  <a:solidFill>
                    <a:srgbClr val="122334"/>
                  </a:solidFill>
                  <a:effectLst/>
                  <a:uFillTx/>
                  <a:latin typeface="+mn-lt"/>
                  <a:ea typeface="+mn-ea"/>
                  <a:cs typeface="+mn-cs"/>
                  <a:sym typeface="Arial"/>
                </a:endParaRPr>
              </a:p>
            </p:txBody>
          </p: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97FFF2D9-772D-0C91-34F2-E667EEA958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3156" y="2054137"/>
                <a:ext cx="335834" cy="0"/>
              </a:xfrm>
              <a:prstGeom prst="line">
                <a:avLst/>
              </a:prstGeom>
              <a:grpFill/>
              <a:ln w="12700" cap="flat">
                <a:solidFill>
                  <a:schemeClr val="bg2">
                    <a:lumMod val="50000"/>
                  </a:schemeClr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82C4659C-3650-2847-2583-C1D816DB026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51681" y="1984158"/>
                <a:ext cx="0" cy="332432"/>
              </a:xfrm>
              <a:prstGeom prst="line">
                <a:avLst/>
              </a:prstGeom>
              <a:grpFill/>
              <a:ln w="12700" cap="flat">
                <a:solidFill>
                  <a:schemeClr val="bg2">
                    <a:lumMod val="50000"/>
                  </a:schemeClr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554EC783-90A1-FE6B-315C-3BD0C18C46B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698154" y="2417964"/>
              <a:ext cx="415481" cy="411272"/>
              <a:chOff x="983156" y="1984158"/>
              <a:chExt cx="335834" cy="332432"/>
            </a:xfrm>
            <a:solidFill>
              <a:schemeClr val="bg2">
                <a:lumMod val="90000"/>
              </a:schemeClr>
            </a:solidFill>
          </p:grpSpPr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96B95F28-F42A-5E56-B18F-5EE720B0166C}"/>
                  </a:ext>
                </a:extLst>
              </p:cNvPr>
              <p:cNvSpPr/>
              <p:nvPr/>
            </p:nvSpPr>
            <p:spPr>
              <a:xfrm>
                <a:off x="983156" y="1984158"/>
                <a:ext cx="335834" cy="332432"/>
              </a:xfrm>
              <a:prstGeom prst="rect">
                <a:avLst/>
              </a:prstGeom>
              <a:grpFill/>
              <a:ln w="12700" cap="flat">
                <a:solidFill>
                  <a:schemeClr val="bg2">
                    <a:lumMod val="50000"/>
                  </a:schemeClr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CH" sz="1400" b="0" i="0" u="none" strike="noStrike" cap="none" spc="0" normalizeH="0" baseline="0" dirty="0">
                  <a:ln>
                    <a:noFill/>
                  </a:ln>
                  <a:solidFill>
                    <a:srgbClr val="122334"/>
                  </a:solidFill>
                  <a:effectLst/>
                  <a:uFillTx/>
                  <a:latin typeface="+mn-lt"/>
                  <a:ea typeface="+mn-ea"/>
                  <a:cs typeface="+mn-cs"/>
                  <a:sym typeface="Arial"/>
                </a:endParaRPr>
              </a:p>
            </p:txBody>
          </p: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655B9219-51A5-A578-E1B6-EFF66C8224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3156" y="2054137"/>
                <a:ext cx="335834" cy="0"/>
              </a:xfrm>
              <a:prstGeom prst="line">
                <a:avLst/>
              </a:prstGeom>
              <a:grpFill/>
              <a:ln w="12700" cap="flat">
                <a:solidFill>
                  <a:schemeClr val="bg2">
                    <a:lumMod val="50000"/>
                  </a:schemeClr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D91C66DF-B3C7-2C56-A4F7-06770864CE7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51681" y="1984158"/>
                <a:ext cx="0" cy="332432"/>
              </a:xfrm>
              <a:prstGeom prst="line">
                <a:avLst/>
              </a:prstGeom>
              <a:grpFill/>
              <a:ln w="12700" cap="flat">
                <a:solidFill>
                  <a:schemeClr val="bg2">
                    <a:lumMod val="50000"/>
                  </a:schemeClr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9A822310-2D7A-9E79-F4BC-5F84B0F2936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735946" y="2455956"/>
              <a:ext cx="415481" cy="411272"/>
              <a:chOff x="983156" y="1984158"/>
              <a:chExt cx="335834" cy="332432"/>
            </a:xfrm>
            <a:solidFill>
              <a:schemeClr val="bg2">
                <a:lumMod val="90000"/>
              </a:schemeClr>
            </a:solidFill>
          </p:grpSpPr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1DC382B7-E6B2-FFA5-7342-70A1A11F918A}"/>
                  </a:ext>
                </a:extLst>
              </p:cNvPr>
              <p:cNvSpPr/>
              <p:nvPr/>
            </p:nvSpPr>
            <p:spPr>
              <a:xfrm>
                <a:off x="983156" y="1984158"/>
                <a:ext cx="335834" cy="332432"/>
              </a:xfrm>
              <a:prstGeom prst="rect">
                <a:avLst/>
              </a:prstGeom>
              <a:grpFill/>
              <a:ln w="12700" cap="flat">
                <a:solidFill>
                  <a:schemeClr val="bg2">
                    <a:lumMod val="50000"/>
                  </a:schemeClr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CH" sz="1400" b="0" i="0" u="none" strike="noStrike" cap="none" spc="0" normalizeH="0" baseline="0" dirty="0">
                  <a:ln>
                    <a:noFill/>
                  </a:ln>
                  <a:solidFill>
                    <a:srgbClr val="122334"/>
                  </a:solidFill>
                  <a:effectLst/>
                  <a:uFillTx/>
                  <a:latin typeface="+mn-lt"/>
                  <a:ea typeface="+mn-ea"/>
                  <a:cs typeface="+mn-cs"/>
                  <a:sym typeface="Arial"/>
                </a:endParaRPr>
              </a:p>
            </p:txBody>
          </p: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AB871196-A801-54C2-AD0B-10E6FD5878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3156" y="2054137"/>
                <a:ext cx="335834" cy="0"/>
              </a:xfrm>
              <a:prstGeom prst="line">
                <a:avLst/>
              </a:prstGeom>
              <a:grpFill/>
              <a:ln w="12700" cap="flat">
                <a:solidFill>
                  <a:schemeClr val="bg2">
                    <a:lumMod val="50000"/>
                  </a:schemeClr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B65020BF-D5DA-25B7-0643-8A349379D82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51681" y="1984158"/>
                <a:ext cx="0" cy="332432"/>
              </a:xfrm>
              <a:prstGeom prst="line">
                <a:avLst/>
              </a:prstGeom>
              <a:grpFill/>
              <a:ln w="12700" cap="flat">
                <a:solidFill>
                  <a:schemeClr val="bg2">
                    <a:lumMod val="50000"/>
                  </a:schemeClr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403BBF6F-842C-C3AA-9976-55AD2AFA55DE}"/>
              </a:ext>
            </a:extLst>
          </p:cNvPr>
          <p:cNvGrpSpPr>
            <a:grpSpLocks noChangeAspect="1"/>
          </p:cNvGrpSpPr>
          <p:nvPr/>
        </p:nvGrpSpPr>
        <p:grpSpPr>
          <a:xfrm>
            <a:off x="6214294" y="3451273"/>
            <a:ext cx="460726" cy="456059"/>
            <a:chOff x="983156" y="1984158"/>
            <a:chExt cx="335834" cy="332432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7D00B2D5-2450-1244-52CF-EECF4C6AC5D5}"/>
                </a:ext>
              </a:extLst>
            </p:cNvPr>
            <p:cNvSpPr/>
            <p:nvPr/>
          </p:nvSpPr>
          <p:spPr>
            <a:xfrm>
              <a:off x="983156" y="1984158"/>
              <a:ext cx="335834" cy="332432"/>
            </a:xfrm>
            <a:prstGeom prst="rect">
              <a:avLst/>
            </a:prstGeom>
            <a:grpFill/>
            <a:ln w="12700" cap="flat">
              <a:solidFill>
                <a:schemeClr val="bg2">
                  <a:lumMod val="50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CH" sz="1400" b="0" i="0" u="none" strike="noStrike" cap="none" spc="0" normalizeH="0" baseline="0" dirty="0">
                <a:ln>
                  <a:noFill/>
                </a:ln>
                <a:solidFill>
                  <a:srgbClr val="122334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endParaRPr>
            </a:p>
          </p:txBody>
        </p: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4C729D40-CF4C-E055-7012-4BF89FB879B4}"/>
                </a:ext>
              </a:extLst>
            </p:cNvPr>
            <p:cNvCxnSpPr>
              <a:cxnSpLocks/>
            </p:cNvCxnSpPr>
            <p:nvPr/>
          </p:nvCxnSpPr>
          <p:spPr>
            <a:xfrm>
              <a:off x="983156" y="2054137"/>
              <a:ext cx="335834" cy="0"/>
            </a:xfrm>
            <a:prstGeom prst="line">
              <a:avLst/>
            </a:prstGeom>
            <a:grpFill/>
            <a:ln w="12700" cap="flat">
              <a:solidFill>
                <a:schemeClr val="bg2">
                  <a:lumMod val="50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B084D587-2C63-0BEA-6107-13300554EB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1681" y="1984158"/>
              <a:ext cx="0" cy="332432"/>
            </a:xfrm>
            <a:prstGeom prst="line">
              <a:avLst/>
            </a:prstGeom>
            <a:grpFill/>
            <a:ln w="12700" cap="flat">
              <a:solidFill>
                <a:schemeClr val="bg2">
                  <a:lumMod val="50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248" name="TextBox 247">
            <a:extLst>
              <a:ext uri="{FF2B5EF4-FFF2-40B4-BE49-F238E27FC236}">
                <a16:creationId xmlns:a16="http://schemas.microsoft.com/office/drawing/2014/main" id="{B52AE06D-7367-84A9-CCD3-FC187B00CB66}"/>
              </a:ext>
            </a:extLst>
          </p:cNvPr>
          <p:cNvSpPr txBox="1"/>
          <p:nvPr/>
        </p:nvSpPr>
        <p:spPr>
          <a:xfrm>
            <a:off x="2038589" y="4045978"/>
            <a:ext cx="1006432" cy="5078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H" sz="900" b="1" dirty="0"/>
              <a:t>A8</a:t>
            </a:r>
            <a:r>
              <a:rPr lang="en-CH" sz="900" dirty="0"/>
              <a:t>  </a:t>
            </a:r>
            <a:r>
              <a:rPr lang="en-GB" sz="900" i="1" dirty="0"/>
              <a:t>Retain best </a:t>
            </a:r>
            <a:r>
              <a:rPr lang="en-GB" sz="900" dirty="0"/>
              <a:t>model</a:t>
            </a:r>
            <a:r>
              <a:rPr lang="en-GB" sz="900" i="1" dirty="0"/>
              <a:t> for each CV split: </a:t>
            </a:r>
            <a:r>
              <a:rPr lang="en-GB" sz="900" b="1" i="1" dirty="0"/>
              <a:t>M</a:t>
            </a:r>
            <a:r>
              <a:rPr lang="en-GB" sz="900" b="1" i="1" baseline="-25000" dirty="0"/>
              <a:t>k</a:t>
            </a:r>
            <a:endParaRPr lang="en-CH" sz="900" b="1" i="1" dirty="0"/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2BE55F0D-780C-0F20-5153-771DA973A94A}"/>
              </a:ext>
            </a:extLst>
          </p:cNvPr>
          <p:cNvGrpSpPr/>
          <p:nvPr/>
        </p:nvGrpSpPr>
        <p:grpSpPr>
          <a:xfrm>
            <a:off x="3083653" y="3998645"/>
            <a:ext cx="474793" cy="324000"/>
            <a:chOff x="3083653" y="3998645"/>
            <a:chExt cx="474793" cy="324000"/>
          </a:xfrm>
        </p:grpSpPr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F08469F5-4E02-026E-E3D2-93C4915EECEB}"/>
                </a:ext>
              </a:extLst>
            </p:cNvPr>
            <p:cNvCxnSpPr>
              <a:cxnSpLocks/>
            </p:cNvCxnSpPr>
            <p:nvPr/>
          </p:nvCxnSpPr>
          <p:spPr>
            <a:xfrm>
              <a:off x="3083653" y="3998645"/>
              <a:ext cx="0" cy="324000"/>
            </a:xfrm>
            <a:prstGeom prst="line">
              <a:avLst/>
            </a:prstGeom>
            <a:ln w="158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E4579E18-C0B0-E1A4-75DB-13DD4F265B6D}"/>
                </a:ext>
              </a:extLst>
            </p:cNvPr>
            <p:cNvCxnSpPr>
              <a:cxnSpLocks/>
            </p:cNvCxnSpPr>
            <p:nvPr/>
          </p:nvCxnSpPr>
          <p:spPr>
            <a:xfrm>
              <a:off x="3085096" y="4315137"/>
              <a:ext cx="473350" cy="0"/>
            </a:xfrm>
            <a:prstGeom prst="straightConnector1">
              <a:avLst/>
            </a:prstGeom>
            <a:ln w="158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F59564C3-0C95-2349-9E80-68252D5CF6AB}"/>
              </a:ext>
            </a:extLst>
          </p:cNvPr>
          <p:cNvGrpSpPr/>
          <p:nvPr/>
        </p:nvGrpSpPr>
        <p:grpSpPr>
          <a:xfrm>
            <a:off x="2589038" y="4679181"/>
            <a:ext cx="1457448" cy="882688"/>
            <a:chOff x="2520756" y="4549333"/>
            <a:chExt cx="1457448" cy="882688"/>
          </a:xfrm>
        </p:grpSpPr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538D4EEE-7A78-15B2-1D49-92B7A41A477F}"/>
                </a:ext>
              </a:extLst>
            </p:cNvPr>
            <p:cNvGrpSpPr/>
            <p:nvPr/>
          </p:nvGrpSpPr>
          <p:grpSpPr>
            <a:xfrm>
              <a:off x="2520756" y="4549333"/>
              <a:ext cx="1457448" cy="882688"/>
              <a:chOff x="2600037" y="4693329"/>
              <a:chExt cx="1457448" cy="882688"/>
            </a:xfrm>
          </p:grpSpPr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5B4BCDDC-0669-A1BA-F372-6111CCE1E393}"/>
                  </a:ext>
                </a:extLst>
              </p:cNvPr>
              <p:cNvSpPr/>
              <p:nvPr/>
            </p:nvSpPr>
            <p:spPr>
              <a:xfrm>
                <a:off x="2600037" y="4693329"/>
                <a:ext cx="1457448" cy="51222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CH" sz="700" b="1" i="1" dirty="0">
                    <a:solidFill>
                      <a:schemeClr val="tx1"/>
                    </a:solidFill>
                  </a:rPr>
                  <a:t>    M</a:t>
                </a:r>
                <a:r>
                  <a:rPr lang="en-CH" sz="700" b="1" i="1" baseline="-25000" dirty="0">
                    <a:solidFill>
                      <a:schemeClr val="tx1"/>
                    </a:solidFill>
                  </a:rPr>
                  <a:t>1</a:t>
                </a:r>
                <a:r>
                  <a:rPr lang="en-CH" sz="700" b="1" i="1" dirty="0">
                    <a:solidFill>
                      <a:schemeClr val="tx1"/>
                    </a:solidFill>
                  </a:rPr>
                  <a:t>         M</a:t>
                </a:r>
                <a:r>
                  <a:rPr lang="en-CH" sz="700" b="1" i="1" baseline="-25000" dirty="0">
                    <a:solidFill>
                      <a:schemeClr val="tx1"/>
                    </a:solidFill>
                  </a:rPr>
                  <a:t>2</a:t>
                </a:r>
                <a:r>
                  <a:rPr lang="en-CH" sz="700" b="1" i="1" dirty="0">
                    <a:solidFill>
                      <a:schemeClr val="tx1"/>
                    </a:solidFill>
                  </a:rPr>
                  <a:t>          M</a:t>
                </a:r>
                <a:r>
                  <a:rPr lang="en-CH" sz="700" b="1" i="1" baseline="-25000" dirty="0">
                    <a:solidFill>
                      <a:schemeClr val="tx1"/>
                    </a:solidFill>
                  </a:rPr>
                  <a:t>3</a:t>
                </a:r>
                <a:r>
                  <a:rPr lang="en-CH" sz="700" b="1" i="1" dirty="0">
                    <a:solidFill>
                      <a:schemeClr val="tx1"/>
                    </a:solidFill>
                  </a:rPr>
                  <a:t>         M</a:t>
                </a:r>
                <a:r>
                  <a:rPr lang="en-CH" sz="700" b="1" i="1" baseline="-25000" dirty="0">
                    <a:solidFill>
                      <a:schemeClr val="tx1"/>
                    </a:solidFill>
                  </a:rPr>
                  <a:t>4 </a:t>
                </a:r>
                <a:r>
                  <a:rPr lang="en-CH" sz="700" b="1" i="1" dirty="0">
                    <a:solidFill>
                      <a:schemeClr val="tx1"/>
                    </a:solidFill>
                  </a:rPr>
                  <a:t>         M</a:t>
                </a:r>
                <a:r>
                  <a:rPr lang="en-CH" sz="700" b="1" i="1" baseline="-25000" dirty="0">
                    <a:solidFill>
                      <a:schemeClr val="tx1"/>
                    </a:solidFill>
                  </a:rPr>
                  <a:t>5</a:t>
                </a:r>
                <a:endParaRPr lang="en-CH" sz="700" b="1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0C6629BE-F87F-9C5B-14D2-3BCCB80F7502}"/>
                  </a:ext>
                </a:extLst>
              </p:cNvPr>
              <p:cNvSpPr txBox="1"/>
              <p:nvPr/>
            </p:nvSpPr>
            <p:spPr>
              <a:xfrm>
                <a:off x="2600037" y="5206685"/>
                <a:ext cx="1457447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H" sz="900" b="1" dirty="0"/>
                  <a:t>A9  </a:t>
                </a:r>
                <a:r>
                  <a:rPr lang="en-CH" sz="900" dirty="0"/>
                  <a:t>Model ensemble</a:t>
                </a:r>
              </a:p>
              <a:p>
                <a:pPr algn="ctr"/>
                <a:r>
                  <a:rPr lang="en-CH" sz="900" b="1" i="1" dirty="0"/>
                  <a:t>S2BIOPHYS</a:t>
                </a:r>
              </a:p>
            </p:txBody>
          </p:sp>
        </p:grpSp>
        <p:grpSp>
          <p:nvGrpSpPr>
            <p:cNvPr id="222" name="Group 221">
              <a:extLst>
                <a:ext uri="{FF2B5EF4-FFF2-40B4-BE49-F238E27FC236}">
                  <a16:creationId xmlns:a16="http://schemas.microsoft.com/office/drawing/2014/main" id="{CEE69FE2-26FE-3E94-CCA8-19645ABA1532}"/>
                </a:ext>
              </a:extLst>
            </p:cNvPr>
            <p:cNvGrpSpPr/>
            <p:nvPr/>
          </p:nvGrpSpPr>
          <p:grpSpPr>
            <a:xfrm>
              <a:off x="2557135" y="4618200"/>
              <a:ext cx="1105115" cy="288600"/>
              <a:chOff x="2557135" y="4618200"/>
              <a:chExt cx="1105115" cy="288600"/>
            </a:xfrm>
          </p:grpSpPr>
          <p:pic>
            <p:nvPicPr>
              <p:cNvPr id="176" name="Graphic 175">
                <a:extLst>
                  <a:ext uri="{FF2B5EF4-FFF2-40B4-BE49-F238E27FC236}">
                    <a16:creationId xmlns:a16="http://schemas.microsoft.com/office/drawing/2014/main" id="{D00F56CA-B332-F550-66F6-2A68F3E77C8A}"/>
                  </a:ext>
                </a:extLst>
              </p:cNvPr>
              <p:cNvPicPr>
                <a:picLocks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3366000" y="4618200"/>
                <a:ext cx="296250" cy="288000"/>
              </a:xfrm>
              <a:prstGeom prst="rect">
                <a:avLst/>
              </a:prstGeom>
            </p:spPr>
          </p:pic>
          <p:pic>
            <p:nvPicPr>
              <p:cNvPr id="206" name="Graphic 205">
                <a:extLst>
                  <a:ext uri="{FF2B5EF4-FFF2-40B4-BE49-F238E27FC236}">
                    <a16:creationId xmlns:a16="http://schemas.microsoft.com/office/drawing/2014/main" id="{03655FBB-27A7-4A87-BE65-353E01533517}"/>
                  </a:ext>
                </a:extLst>
              </p:cNvPr>
              <p:cNvPicPr>
                <a:picLocks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3096000" y="4618200"/>
                <a:ext cx="296250" cy="288000"/>
              </a:xfrm>
              <a:prstGeom prst="rect">
                <a:avLst/>
              </a:prstGeom>
            </p:spPr>
          </p:pic>
          <p:pic>
            <p:nvPicPr>
              <p:cNvPr id="209" name="Graphic 208">
                <a:extLst>
                  <a:ext uri="{FF2B5EF4-FFF2-40B4-BE49-F238E27FC236}">
                    <a16:creationId xmlns:a16="http://schemas.microsoft.com/office/drawing/2014/main" id="{53DD664F-6E1B-406F-5F4B-1F727DA36746}"/>
                  </a:ext>
                </a:extLst>
              </p:cNvPr>
              <p:cNvPicPr>
                <a:picLocks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2826000" y="4618200"/>
                <a:ext cx="296250" cy="288000"/>
              </a:xfrm>
              <a:prstGeom prst="rect">
                <a:avLst/>
              </a:prstGeom>
            </p:spPr>
          </p:pic>
          <p:pic>
            <p:nvPicPr>
              <p:cNvPr id="211" name="Graphic 210">
                <a:extLst>
                  <a:ext uri="{FF2B5EF4-FFF2-40B4-BE49-F238E27FC236}">
                    <a16:creationId xmlns:a16="http://schemas.microsoft.com/office/drawing/2014/main" id="{2275764D-74FD-ACBA-6A0F-61B8313C8C58}"/>
                  </a:ext>
                </a:extLst>
              </p:cNvPr>
              <p:cNvPicPr>
                <a:picLocks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2557135" y="4618800"/>
                <a:ext cx="296250" cy="288000"/>
              </a:xfrm>
              <a:prstGeom prst="rect">
                <a:avLst/>
              </a:prstGeom>
            </p:spPr>
          </p:pic>
        </p:grpSp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1AD40D4A-7648-6C28-978C-D740DDEB3B73}"/>
              </a:ext>
            </a:extLst>
          </p:cNvPr>
          <p:cNvGrpSpPr/>
          <p:nvPr/>
        </p:nvGrpSpPr>
        <p:grpSpPr>
          <a:xfrm>
            <a:off x="3591290" y="4167390"/>
            <a:ext cx="1049027" cy="288000"/>
            <a:chOff x="3622206" y="4080634"/>
            <a:chExt cx="1049027" cy="288000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F23CA56E-B8A8-6065-04CE-F96747AACBE2}"/>
                </a:ext>
              </a:extLst>
            </p:cNvPr>
            <p:cNvSpPr txBox="1"/>
            <p:nvPr/>
          </p:nvSpPr>
          <p:spPr>
            <a:xfrm>
              <a:off x="3622206" y="4113796"/>
              <a:ext cx="1049027" cy="230832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 anchor="ctr">
              <a:spAutoFit/>
            </a:bodyPr>
            <a:lstStyle/>
            <a:p>
              <a:r>
                <a:rPr lang="en-CH" sz="900" dirty="0">
                  <a:solidFill>
                    <a:schemeClr val="accent2">
                      <a:lumMod val="75000"/>
                    </a:schemeClr>
                  </a:solidFill>
                </a:rPr>
                <a:t>Selected </a:t>
              </a:r>
              <a:r>
                <a:rPr lang="en-US" sz="900" b="1" i="1" dirty="0">
                  <a:solidFill>
                    <a:schemeClr val="accent2">
                      <a:lumMod val="75000"/>
                    </a:schemeClr>
                  </a:solidFill>
                </a:rPr>
                <a:t>M</a:t>
              </a:r>
              <a:r>
                <a:rPr lang="en-US" sz="900" b="1" i="1" baseline="-25000" dirty="0">
                  <a:solidFill>
                    <a:schemeClr val="accent2">
                      <a:lumMod val="75000"/>
                    </a:schemeClr>
                  </a:solidFill>
                </a:rPr>
                <a:t>k</a:t>
              </a:r>
              <a:endParaRPr lang="en-CH" sz="900" i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pic>
          <p:nvPicPr>
            <p:cNvPr id="212" name="Graphic 211">
              <a:extLst>
                <a:ext uri="{FF2B5EF4-FFF2-40B4-BE49-F238E27FC236}">
                  <a16:creationId xmlns:a16="http://schemas.microsoft.com/office/drawing/2014/main" id="{49890BC4-9A57-0F7D-3194-8E662AFE00C3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359605" y="4080634"/>
              <a:ext cx="296250" cy="288000"/>
            </a:xfrm>
            <a:prstGeom prst="rect">
              <a:avLst/>
            </a:prstGeom>
          </p:spPr>
        </p:pic>
      </p:grpSp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BAEE1296-349B-9448-DD3A-15B56DFBDB1C}"/>
              </a:ext>
            </a:extLst>
          </p:cNvPr>
          <p:cNvCxnSpPr>
            <a:cxnSpLocks/>
          </p:cNvCxnSpPr>
          <p:nvPr/>
        </p:nvCxnSpPr>
        <p:spPr>
          <a:xfrm>
            <a:off x="3837214" y="4464172"/>
            <a:ext cx="0" cy="191254"/>
          </a:xfrm>
          <a:prstGeom prst="straightConnector1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6940AE14-7044-276E-0E29-1D66D497D12D}"/>
              </a:ext>
            </a:extLst>
          </p:cNvPr>
          <p:cNvGrpSpPr/>
          <p:nvPr/>
        </p:nvGrpSpPr>
        <p:grpSpPr>
          <a:xfrm>
            <a:off x="1920804" y="4049698"/>
            <a:ext cx="611104" cy="875054"/>
            <a:chOff x="1909652" y="4016242"/>
            <a:chExt cx="611104" cy="875054"/>
          </a:xfrm>
        </p:grpSpPr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89A6CD9B-EF0F-4573-AA66-983F0920F7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09652" y="4016242"/>
              <a:ext cx="5173" cy="875054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Arrow Connector 265">
              <a:extLst>
                <a:ext uri="{FF2B5EF4-FFF2-40B4-BE49-F238E27FC236}">
                  <a16:creationId xmlns:a16="http://schemas.microsoft.com/office/drawing/2014/main" id="{0F45C79F-5781-A4CF-1EBC-D279B66A83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20289" y="4866280"/>
              <a:ext cx="600467" cy="581"/>
            </a:xfrm>
            <a:prstGeom prst="straightConnector1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1" name="TextBox 280">
            <a:extLst>
              <a:ext uri="{FF2B5EF4-FFF2-40B4-BE49-F238E27FC236}">
                <a16:creationId xmlns:a16="http://schemas.microsoft.com/office/drawing/2014/main" id="{1A49A727-FAF7-F354-ACA6-1A0CD82E7694}"/>
              </a:ext>
            </a:extLst>
          </p:cNvPr>
          <p:cNvSpPr txBox="1"/>
          <p:nvPr/>
        </p:nvSpPr>
        <p:spPr>
          <a:xfrm>
            <a:off x="5676112" y="3897760"/>
            <a:ext cx="138977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900" b="1" i="1" dirty="0">
                <a:solidFill>
                  <a:schemeClr val="accent2">
                    <a:lumMod val="75000"/>
                  </a:schemeClr>
                </a:solidFill>
              </a:rPr>
              <a:t>C</a:t>
            </a:r>
            <a:r>
              <a:rPr lang="en-CH" sz="900" b="1" i="1" baseline="-25000" dirty="0">
                <a:solidFill>
                  <a:schemeClr val="accent2">
                    <a:lumMod val="75000"/>
                  </a:schemeClr>
                </a:solidFill>
              </a:rPr>
              <a:t>k</a:t>
            </a:r>
            <a:r>
              <a:rPr lang="en-CH" sz="900" i="1" dirty="0">
                <a:solidFill>
                  <a:schemeClr val="accent5">
                    <a:lumMod val="75000"/>
                  </a:schemeClr>
                </a:solidFill>
              </a:rPr>
              <a:t>                      </a:t>
            </a:r>
            <a:r>
              <a:rPr lang="en-CH" sz="900" b="1" i="1" dirty="0">
                <a:solidFill>
                  <a:schemeClr val="accent5">
                    <a:lumMod val="75000"/>
                  </a:schemeClr>
                </a:solidFill>
              </a:rPr>
              <a:t>V</a:t>
            </a:r>
            <a:r>
              <a:rPr lang="en-CH" sz="900" b="1" i="1" baseline="-25000" dirty="0">
                <a:solidFill>
                  <a:schemeClr val="accent5">
                    <a:lumMod val="75000"/>
                  </a:schemeClr>
                </a:solidFill>
              </a:rPr>
              <a:t>k</a:t>
            </a:r>
          </a:p>
        </p:txBody>
      </p:sp>
      <p:pic>
        <p:nvPicPr>
          <p:cNvPr id="285" name="Graphic 284">
            <a:extLst>
              <a:ext uri="{FF2B5EF4-FFF2-40B4-BE49-F238E27FC236}">
                <a16:creationId xmlns:a16="http://schemas.microsoft.com/office/drawing/2014/main" id="{1A654CA1-6A1C-AB00-1931-D32A8A9F4A2A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704400" y="4748400"/>
            <a:ext cx="296250" cy="288000"/>
          </a:xfrm>
          <a:prstGeom prst="rect">
            <a:avLst/>
          </a:prstGeom>
        </p:spPr>
      </p:pic>
      <p:cxnSp>
        <p:nvCxnSpPr>
          <p:cNvPr id="286" name="Straight Arrow Connector 285">
            <a:extLst>
              <a:ext uri="{FF2B5EF4-FFF2-40B4-BE49-F238E27FC236}">
                <a16:creationId xmlns:a16="http://schemas.microsoft.com/office/drawing/2014/main" id="{A2DB3F67-72F5-E6CC-49FA-51B2754389BE}"/>
              </a:ext>
            </a:extLst>
          </p:cNvPr>
          <p:cNvCxnSpPr>
            <a:cxnSpLocks/>
          </p:cNvCxnSpPr>
          <p:nvPr/>
        </p:nvCxnSpPr>
        <p:spPr>
          <a:xfrm>
            <a:off x="6342119" y="3936264"/>
            <a:ext cx="0" cy="302038"/>
          </a:xfrm>
          <a:prstGeom prst="straightConnector1">
            <a:avLst/>
          </a:prstGeom>
          <a:ln w="15875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8" name="TextBox 297">
            <a:extLst>
              <a:ext uri="{FF2B5EF4-FFF2-40B4-BE49-F238E27FC236}">
                <a16:creationId xmlns:a16="http://schemas.microsoft.com/office/drawing/2014/main" id="{CFD68B41-EF6B-18E8-F8D3-62D8B87AEF69}"/>
              </a:ext>
            </a:extLst>
          </p:cNvPr>
          <p:cNvSpPr txBox="1"/>
          <p:nvPr/>
        </p:nvSpPr>
        <p:spPr>
          <a:xfrm>
            <a:off x="2353038" y="5739149"/>
            <a:ext cx="1938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B5  </a:t>
            </a:r>
            <a:r>
              <a:rPr lang="en-US" sz="900" i="1" dirty="0"/>
              <a:t>Ensemble-mean evaluation: M</a:t>
            </a:r>
            <a:r>
              <a:rPr lang="en-US" sz="900" i="1" baseline="-25000" dirty="0"/>
              <a:t>1</a:t>
            </a:r>
            <a:r>
              <a:rPr lang="en-US" sz="900" i="1" dirty="0"/>
              <a:t>-M</a:t>
            </a:r>
            <a:r>
              <a:rPr lang="en-US" sz="900" i="1" baseline="-25000" dirty="0"/>
              <a:t>5</a:t>
            </a:r>
            <a:r>
              <a:rPr lang="en-US" sz="900" i="1" dirty="0"/>
              <a:t> on all RMs</a:t>
            </a:r>
            <a:endParaRPr lang="en-CH" sz="900" i="1" dirty="0"/>
          </a:p>
        </p:txBody>
      </p:sp>
      <p:cxnSp>
        <p:nvCxnSpPr>
          <p:cNvPr id="302" name="Straight Arrow Connector 301">
            <a:extLst>
              <a:ext uri="{FF2B5EF4-FFF2-40B4-BE49-F238E27FC236}">
                <a16:creationId xmlns:a16="http://schemas.microsoft.com/office/drawing/2014/main" id="{54E52A95-F80E-E6F1-FC23-8EC8A16F6550}"/>
              </a:ext>
            </a:extLst>
          </p:cNvPr>
          <p:cNvCxnSpPr>
            <a:cxnSpLocks/>
          </p:cNvCxnSpPr>
          <p:nvPr/>
        </p:nvCxnSpPr>
        <p:spPr>
          <a:xfrm>
            <a:off x="4692939" y="4316400"/>
            <a:ext cx="653140" cy="0"/>
          </a:xfrm>
          <a:prstGeom prst="straightConnector1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8" name="Graphic 307">
            <a:extLst>
              <a:ext uri="{FF2B5EF4-FFF2-40B4-BE49-F238E27FC236}">
                <a16:creationId xmlns:a16="http://schemas.microsoft.com/office/drawing/2014/main" id="{F6447E36-EB27-427B-F4D0-F4927259601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072274" y="1558907"/>
            <a:ext cx="499721" cy="489965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9DE4BA8D-69E9-8203-E415-63E0E6180CAC}"/>
              </a:ext>
            </a:extLst>
          </p:cNvPr>
          <p:cNvGrpSpPr>
            <a:grpSpLocks noChangeAspect="1"/>
          </p:cNvGrpSpPr>
          <p:nvPr/>
        </p:nvGrpSpPr>
        <p:grpSpPr>
          <a:xfrm>
            <a:off x="8342784" y="4669841"/>
            <a:ext cx="1271099" cy="438512"/>
            <a:chOff x="3852525" y="3005124"/>
            <a:chExt cx="4762500" cy="1642996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D22C165B-E5F1-61B2-BD16-B28161A7736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b="63910"/>
            <a:stretch>
              <a:fillRect/>
            </a:stretch>
          </p:blipFill>
          <p:spPr>
            <a:xfrm>
              <a:off x="3852525" y="3005124"/>
              <a:ext cx="4762500" cy="756276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D169DD00-8B74-11B9-9A12-2AF8A6151C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t="57334"/>
            <a:stretch>
              <a:fillRect/>
            </a:stretch>
          </p:blipFill>
          <p:spPr>
            <a:xfrm>
              <a:off x="3852525" y="3754061"/>
              <a:ext cx="4762500" cy="8940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46179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</TotalTime>
  <Words>543</Words>
  <Application>Microsoft Macintosh PowerPoint</Application>
  <PresentationFormat>Widescreen</PresentationFormat>
  <Paragraphs>51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PT Mono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felix specker</dc:creator>
  <cp:lastModifiedBy>felix specker</cp:lastModifiedBy>
  <cp:revision>22</cp:revision>
  <cp:lastPrinted>2026-09-15T12:44:21Z</cp:lastPrinted>
  <dcterms:created xsi:type="dcterms:W3CDTF">2026-02-04T13:58:02Z</dcterms:created>
  <dcterms:modified xsi:type="dcterms:W3CDTF">2026-09-18T09:48:17Z</dcterms:modified>
</cp:coreProperties>
</file>