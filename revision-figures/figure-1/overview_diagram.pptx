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7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28"/>
  </p:normalViewPr>
  <p:slideViewPr>
    <p:cSldViewPr snapToGrid="0">
      <p:cViewPr varScale="1">
        <p:scale>
          <a:sx n="114" d="100"/>
          <a:sy n="114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036F8-F71A-AB44-B1DB-CD13AAD1D3DB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CD77F-894C-2A4B-BD70-3044B5EB5C5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13750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5D9D2-BA43-DC77-2D88-0773BC90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57707-2BAB-1701-C96C-05191A4CC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A6FD1-79F3-F112-35D5-8445A1DCB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D5B84-602E-5DDB-835F-164420824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9ACB2-68FC-7141-B5FB-7C8026665CC4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6632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3704-22FE-11B2-04EB-0041CB3A8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62308-D5C7-1205-4E26-453910A83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D4D7E-4AB7-09BA-8C89-C68B0444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5B81E-F141-D003-403E-022A38DD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ED54C-4430-42B1-FDD2-4F4D72CF1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7997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CF79-E392-9308-9368-DB242F676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741A8-3765-BA70-2D06-5956A13EF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5ACD9-2E76-36E0-FEBC-6653CC7D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ABEB6-4919-8BB1-E7D9-CD0E22B4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0F2D0-7A67-0C5F-5F8A-2D741889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7009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088E-F03F-FC31-3E6B-E58D8249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8CD29-459D-F5AD-8A38-BD9056D6B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546CD-1D8E-5B3A-8459-6BB4BD12A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28949-82F9-DF6B-75C2-4D5F88DE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DED81-AA64-9D58-3265-472313F4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8939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27A6-6202-9565-E2D3-F7A8DF13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6F57-DBE2-B6F9-AB29-32744DCFC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19258-5A68-9100-7882-25E8F877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CB67E-DC62-F2D4-94D1-489CF3C2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A3BAD-1FA8-E1F3-2BBB-1801B7E60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958CA-3662-C89F-5D9F-C691953D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7010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15FE-C32E-29E9-B02C-5B0D6B63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A1932-640B-79A9-DEEF-962F57E25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E84CE-7342-CB39-9A2C-AB2B16CF2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21D41-06C8-6A6C-2807-EC068C745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876B7-07AD-069F-8979-D549624E9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AB5D43-4324-5B47-0865-3E46C1DB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897849-FFC8-C7E6-2763-04AC8F41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5DCB44-D4B0-902A-473E-16ED1446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5099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C8D9-1420-9DDA-72C1-D0E2BE73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3F4AB-C6B5-3E72-7498-EF68B122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0CDB8-D85D-B8EA-8D62-25A73F52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D723C-B7BC-D9BC-E0C3-BFEDC411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53227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453F1-AC78-B249-7E45-D45B69EC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77D3E-3F69-2A1D-31C5-4D0FF7A4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ADED1-89BC-F809-30CB-5D600D15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959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B91C-E388-DF30-BCD5-EBA40B19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140A2-4964-8096-AA4E-1B39FB29A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35AD6-E08B-A76F-A121-A9D972F7B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A1B24-86EA-39EC-3A2D-577B27C5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7602B-BD35-B6E9-7E15-C4EDF475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302C2-BA6D-079C-5856-7FA89B34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0572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36BD-7534-3054-2393-8CC070FB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1F3C28-865D-B0AD-3680-235A2BEC2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BFB58-065E-3AA4-493F-79E26E299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6B06E-BA64-3390-E83B-20FA44AE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04A9-A911-4DA1-7F23-51FD096B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2CD7B-E36D-7075-281B-B3A27CD7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391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DA76-1BC4-4343-1383-F0034FB2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B4E90-1808-79BF-BF96-56057DE37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2B8D6-9F83-29E5-BD1B-D67C7DFD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82C58-E304-EDC2-8C88-29C90FEC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5011B-BCA7-3E16-BE0D-37CCD87BC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3298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4130C8-D22E-91A7-2528-3796AFD24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CE97E-5DCA-DE44-5CD7-67EC9E5AE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DD2D6-4C76-7292-F00C-A53C18536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973FA-EE5F-2A60-4432-1932B67B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84EB8-458C-4D96-2679-2C10A606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3565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36524F-3571-AC86-2FB0-D4CB99C9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38C64-E8D8-488F-BA48-104172EA1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E3D03-6BC2-10D3-73D3-184502A57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F0D33-9AC4-2449-ABB5-01686A3840D3}" type="datetimeFigureOut">
              <a:rPr lang="en-CH" smtClean="0"/>
              <a:t>04.02.2026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4AD58-1349-AE9F-B44B-33210188A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8C9FB-651E-D69A-109C-F83B857E7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3381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C5975-047D-FA82-1A2E-43C67833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287">
            <a:extLst>
              <a:ext uri="{FF2B5EF4-FFF2-40B4-BE49-F238E27FC236}">
                <a16:creationId xmlns:a16="http://schemas.microsoft.com/office/drawing/2014/main" id="{F3E4CA08-93A5-A2F9-2D2F-E9D48E3CB4F4}"/>
              </a:ext>
            </a:extLst>
          </p:cNvPr>
          <p:cNvSpPr txBox="1"/>
          <p:nvPr/>
        </p:nvSpPr>
        <p:spPr>
          <a:xfrm>
            <a:off x="9814332" y="459210"/>
            <a:ext cx="240308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800" b="1" dirty="0"/>
              <a:t>Figure 1: </a:t>
            </a:r>
            <a:r>
              <a:rPr lang="en-GB" sz="800" b="1" dirty="0"/>
              <a:t>Overview of Model Training and Prediction Workflow</a:t>
            </a:r>
            <a:endParaRPr lang="en-CH" sz="800" b="1" dirty="0"/>
          </a:p>
          <a:p>
            <a:r>
              <a:rPr lang="en-CH" sz="800" b="1" dirty="0"/>
              <a:t>A </a:t>
            </a:r>
            <a:r>
              <a:rPr lang="en-CH" sz="800" dirty="0"/>
              <a:t>The core of the model training workflow revolves around the iterative optimisation of the parameters involved in a PROSAIL RTM hybrid inversion procedure. First, we defined input trait ranges and distributions (</a:t>
            </a:r>
            <a:r>
              <a:rPr lang="en-CH" sz="800" b="1" dirty="0"/>
              <a:t>A1</a:t>
            </a:r>
            <a:r>
              <a:rPr lang="en-CH" sz="800" dirty="0"/>
              <a:t>)</a:t>
            </a:r>
            <a:r>
              <a:rPr lang="en-GB" sz="800" dirty="0"/>
              <a:t> and then simulated </a:t>
            </a:r>
            <a:r>
              <a:rPr lang="en-GB" sz="800" dirty="0" err="1"/>
              <a:t>reflectances</a:t>
            </a:r>
            <a:r>
              <a:rPr lang="en-GB" sz="800" dirty="0"/>
              <a:t> using PROSAIL for each trait combination </a:t>
            </a:r>
            <a:r>
              <a:rPr lang="en-CH" sz="800" dirty="0"/>
              <a:t>(</a:t>
            </a:r>
            <a:r>
              <a:rPr lang="en-CH" sz="800" b="1" dirty="0"/>
              <a:t>A2</a:t>
            </a:r>
            <a:r>
              <a:rPr lang="en-CH" sz="800" dirty="0"/>
              <a:t>). The simulated reflectances (</a:t>
            </a:r>
            <a:r>
              <a:rPr lang="en-CH" sz="800" b="1" dirty="0"/>
              <a:t>A3</a:t>
            </a:r>
            <a:r>
              <a:rPr lang="en-CH" sz="800" dirty="0"/>
              <a:t>) served as training training data for fitting  (</a:t>
            </a:r>
            <a:r>
              <a:rPr lang="en-CH" sz="800" b="1" dirty="0"/>
              <a:t>A4</a:t>
            </a:r>
            <a:r>
              <a:rPr lang="en-CH" sz="800" dirty="0"/>
              <a:t>) a multi-layer perceptron regression model (</a:t>
            </a:r>
            <a:r>
              <a:rPr lang="en-CH" sz="800" b="1" dirty="0"/>
              <a:t>A5</a:t>
            </a:r>
            <a:r>
              <a:rPr lang="en-CH" sz="800" dirty="0"/>
              <a:t>). We evaluated the model fit using the calibration split of the in-situ data (</a:t>
            </a:r>
            <a:r>
              <a:rPr lang="en-CH" sz="800" b="1" dirty="0"/>
              <a:t>A6</a:t>
            </a:r>
            <a:r>
              <a:rPr lang="en-CH" sz="800" dirty="0"/>
              <a:t>) and repeated this procedure for 1000 iterations. We used the Optuna hyperparameter optimisation framework with the search space defined in Table 2. </a:t>
            </a:r>
          </a:p>
          <a:p>
            <a:endParaRPr lang="en-CH" sz="800" dirty="0"/>
          </a:p>
          <a:p>
            <a:r>
              <a:rPr lang="en-CH" sz="800" b="1" dirty="0"/>
              <a:t>B</a:t>
            </a:r>
            <a:r>
              <a:rPr lang="en-CH" sz="800" dirty="0"/>
              <a:t> </a:t>
            </a:r>
            <a:r>
              <a:rPr lang="en-GB" sz="800" dirty="0"/>
              <a:t>We obtained in-situ reference measurements from GBOV  (</a:t>
            </a:r>
            <a:r>
              <a:rPr lang="en-GB" sz="800" b="1" dirty="0"/>
              <a:t>B1</a:t>
            </a:r>
            <a:r>
              <a:rPr lang="en-GB" sz="800" dirty="0"/>
              <a:t>) for LAI, FAPAR, and FCOVER and overlaid them with the closest available cloud-free Sentinel-2 </a:t>
            </a:r>
            <a:r>
              <a:rPr lang="en-GB" sz="800" dirty="0" err="1"/>
              <a:t>reflectances</a:t>
            </a:r>
            <a:r>
              <a:rPr lang="en-GB" sz="800" dirty="0"/>
              <a:t> (</a:t>
            </a:r>
            <a:r>
              <a:rPr lang="en-GB" sz="800" b="1" dirty="0"/>
              <a:t>B2</a:t>
            </a:r>
            <a:r>
              <a:rPr lang="en-GB" sz="800" dirty="0"/>
              <a:t>). For each biophysical property, we performed a 5-fold stratified CV split based on ecoregions, ensuring observations from the same ecoregion appeared only in either calibration or validation splits (</a:t>
            </a:r>
            <a:r>
              <a:rPr lang="en-GB" sz="800" b="1" dirty="0"/>
              <a:t>B3</a:t>
            </a:r>
            <a:r>
              <a:rPr lang="en-GB" sz="800" dirty="0"/>
              <a:t>). For each CV split, we repeated the optimisation of the PROSAIL RTM hybrid inversion procedure and stacked (</a:t>
            </a:r>
            <a:r>
              <a:rPr lang="en-GB" sz="800" b="1" dirty="0"/>
              <a:t>A8</a:t>
            </a:r>
            <a:r>
              <a:rPr lang="en-GB" sz="800" dirty="0"/>
              <a:t>) the best models into a model ensemble (</a:t>
            </a:r>
            <a:r>
              <a:rPr lang="en-GB" sz="800" b="1" dirty="0"/>
              <a:t>A9</a:t>
            </a:r>
            <a:r>
              <a:rPr lang="en-GB" sz="800" dirty="0"/>
              <a:t>). We evaluated the model performance on held-out ecoregions using the validation split (</a:t>
            </a:r>
            <a:r>
              <a:rPr lang="en-GB" sz="800" b="1" dirty="0"/>
              <a:t>B4</a:t>
            </a:r>
            <a:r>
              <a:rPr lang="en-GB" sz="800" dirty="0"/>
              <a:t>).</a:t>
            </a:r>
          </a:p>
          <a:p>
            <a:endParaRPr lang="en-CH" sz="800" dirty="0"/>
          </a:p>
          <a:p>
            <a:r>
              <a:rPr lang="en-CH" sz="800" b="1" dirty="0"/>
              <a:t>C</a:t>
            </a:r>
            <a:r>
              <a:rPr lang="en-CH" sz="800" dirty="0"/>
              <a:t> </a:t>
            </a:r>
            <a:r>
              <a:rPr lang="en-GB" sz="800" dirty="0"/>
              <a:t>For global predictions, we used the Sentinel-2 L2A data </a:t>
            </a:r>
            <a:r>
              <a:rPr lang="en-GB" sz="800" dirty="0" err="1"/>
              <a:t>catalog</a:t>
            </a:r>
            <a:r>
              <a:rPr lang="en-GB" sz="800" dirty="0"/>
              <a:t> (</a:t>
            </a:r>
            <a:r>
              <a:rPr lang="en-GB" sz="800" b="1" dirty="0"/>
              <a:t>C1</a:t>
            </a:r>
            <a:r>
              <a:rPr lang="en-GB" sz="800" dirty="0"/>
              <a:t>) and joined it with the precomputed </a:t>
            </a:r>
            <a:r>
              <a:rPr lang="en-GB" sz="800" dirty="0" err="1"/>
              <a:t>CloudScore</a:t>
            </a:r>
            <a:r>
              <a:rPr lang="en-GB" sz="800" dirty="0"/>
              <a:t>+ collection (</a:t>
            </a:r>
            <a:r>
              <a:rPr lang="en-GB" sz="800" b="1" dirty="0"/>
              <a:t>C2</a:t>
            </a:r>
            <a:r>
              <a:rPr lang="en-GB" sz="800" dirty="0"/>
              <a:t>) to mask clouds at the pixel level (</a:t>
            </a:r>
            <a:r>
              <a:rPr lang="en-GB" sz="800" b="1" dirty="0"/>
              <a:t>C3</a:t>
            </a:r>
            <a:r>
              <a:rPr lang="en-GB" sz="800" dirty="0"/>
              <a:t>). To represent the vegetative period throughout the year, we calculated mean scene-level NDVI and retained scenes that balanced lower cloud coverage and higher NDVI (</a:t>
            </a:r>
            <a:r>
              <a:rPr lang="en-GB" sz="800" b="1" dirty="0"/>
              <a:t>C4</a:t>
            </a:r>
            <a:r>
              <a:rPr lang="en-GB" sz="800" dirty="0"/>
              <a:t>). We randomly assigned each Sentinel-2 scene to a model ensemble member (</a:t>
            </a:r>
            <a:r>
              <a:rPr lang="en-GB" sz="800" b="1" dirty="0"/>
              <a:t>A9</a:t>
            </a:r>
            <a:r>
              <a:rPr lang="en-GB" sz="800" dirty="0"/>
              <a:t>), predicted the scene (</a:t>
            </a:r>
            <a:r>
              <a:rPr lang="en-GB" sz="800" b="1" dirty="0"/>
              <a:t>C5</a:t>
            </a:r>
            <a:r>
              <a:rPr lang="en-GB" sz="800" dirty="0"/>
              <a:t>) and aggregated the predictions to compute mean, standard deviation, and acquisition count at the pixel level (</a:t>
            </a:r>
            <a:r>
              <a:rPr lang="en-GB" sz="800" b="1" dirty="0"/>
              <a:t>C6</a:t>
            </a:r>
            <a:r>
              <a:rPr lang="en-GB" sz="800" dirty="0"/>
              <a:t>). The resulting global biophysical maps (</a:t>
            </a:r>
            <a:r>
              <a:rPr lang="en-GB" sz="800" b="1" dirty="0"/>
              <a:t>C8</a:t>
            </a:r>
            <a:r>
              <a:rPr lang="en-GB" sz="800" dirty="0"/>
              <a:t>) are available for LAI, FAPAR, and FCOVER at 1000m, 100m, and 20m resolutions from 2019 to 2024.</a:t>
            </a:r>
            <a:endParaRPr lang="en-CH" sz="800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CE9913D5-C983-1417-1B2F-0B980CE9BFEB}"/>
              </a:ext>
            </a:extLst>
          </p:cNvPr>
          <p:cNvCxnSpPr>
            <a:cxnSpLocks/>
          </p:cNvCxnSpPr>
          <p:nvPr/>
        </p:nvCxnSpPr>
        <p:spPr>
          <a:xfrm>
            <a:off x="4338994" y="2204706"/>
            <a:ext cx="0" cy="809349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80DE00B-2C11-72CF-9D95-7B5CCF8A9A34}"/>
              </a:ext>
            </a:extLst>
          </p:cNvPr>
          <p:cNvSpPr/>
          <p:nvPr/>
        </p:nvSpPr>
        <p:spPr>
          <a:xfrm>
            <a:off x="1711059" y="1116932"/>
            <a:ext cx="3246200" cy="2808824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1136A4-1F1E-16D8-4711-7263206E0FEB}"/>
              </a:ext>
            </a:extLst>
          </p:cNvPr>
          <p:cNvGrpSpPr/>
          <p:nvPr/>
        </p:nvGrpSpPr>
        <p:grpSpPr>
          <a:xfrm>
            <a:off x="5513170" y="1200414"/>
            <a:ext cx="933269" cy="846712"/>
            <a:chOff x="5482634" y="1492778"/>
            <a:chExt cx="933269" cy="846712"/>
          </a:xfrm>
        </p:grpSpPr>
        <p:pic>
          <p:nvPicPr>
            <p:cNvPr id="18" name="Graphic 17" descr="Database outline">
              <a:extLst>
                <a:ext uri="{FF2B5EF4-FFF2-40B4-BE49-F238E27FC236}">
                  <a16:creationId xmlns:a16="http://schemas.microsoft.com/office/drawing/2014/main" id="{D41EB7EC-0EC8-D40E-1BED-F08BC83DC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24466" y="1713127"/>
              <a:ext cx="589431" cy="62636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788B37-456F-389D-EAE0-B62FD668AB76}"/>
                </a:ext>
              </a:extLst>
            </p:cNvPr>
            <p:cNvSpPr txBox="1"/>
            <p:nvPr/>
          </p:nvSpPr>
          <p:spPr>
            <a:xfrm>
              <a:off x="5482634" y="1492778"/>
              <a:ext cx="933269" cy="230832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r>
                <a:rPr lang="en-CH" sz="900" b="1" dirty="0"/>
                <a:t>B1 </a:t>
              </a:r>
              <a:r>
                <a:rPr lang="en-CH" sz="900" dirty="0"/>
                <a:t>In-situ RMs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93D10A1-F935-EEBF-DE22-F88D9E69E399}"/>
              </a:ext>
            </a:extLst>
          </p:cNvPr>
          <p:cNvGrpSpPr>
            <a:grpSpLocks noChangeAspect="1"/>
          </p:cNvGrpSpPr>
          <p:nvPr/>
        </p:nvGrpSpPr>
        <p:grpSpPr>
          <a:xfrm>
            <a:off x="7210905" y="1487383"/>
            <a:ext cx="648000" cy="549058"/>
            <a:chOff x="5435326" y="1750027"/>
            <a:chExt cx="1018593" cy="864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5B04C21-3466-31FD-3AA5-C51E344D03D8}"/>
                </a:ext>
              </a:extLst>
            </p:cNvPr>
            <p:cNvGrpSpPr/>
            <p:nvPr/>
          </p:nvGrpSpPr>
          <p:grpSpPr>
            <a:xfrm>
              <a:off x="5435326" y="1796402"/>
              <a:ext cx="1018593" cy="817625"/>
              <a:chOff x="5435326" y="1796402"/>
              <a:chExt cx="1018593" cy="817625"/>
            </a:xfrm>
          </p:grpSpPr>
          <p:sp>
            <p:nvSpPr>
              <p:cNvPr id="6" name="Rhombus">
                <a:extLst>
                  <a:ext uri="{FF2B5EF4-FFF2-40B4-BE49-F238E27FC236}">
                    <a16:creationId xmlns:a16="http://schemas.microsoft.com/office/drawing/2014/main" id="{6D404FCD-84A4-A23C-DBE7-ABF89F2B13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3802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7" name="Rhombus">
                <a:extLst>
                  <a:ext uri="{FF2B5EF4-FFF2-40B4-BE49-F238E27FC236}">
                    <a16:creationId xmlns:a16="http://schemas.microsoft.com/office/drawing/2014/main" id="{2A0AD949-A7CA-6B2C-68B6-4B0AD7B65A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16000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" name="Rhombus">
                <a:extLst>
                  <a:ext uri="{FF2B5EF4-FFF2-40B4-BE49-F238E27FC236}">
                    <a16:creationId xmlns:a16="http://schemas.microsoft.com/office/drawing/2014/main" id="{98416188-97F0-5971-EDE8-601163ED76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9912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9" name="Rhombus">
                <a:extLst>
                  <a:ext uri="{FF2B5EF4-FFF2-40B4-BE49-F238E27FC236}">
                    <a16:creationId xmlns:a16="http://schemas.microsoft.com/office/drawing/2014/main" id="{B8B0F703-8C4E-15E5-9FFC-7BA712EF17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696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0" name="Rhombus">
                <a:extLst>
                  <a:ext uri="{FF2B5EF4-FFF2-40B4-BE49-F238E27FC236}">
                    <a16:creationId xmlns:a16="http://schemas.microsoft.com/office/drawing/2014/main" id="{5AA6550F-A334-5B10-4272-75AF86E2C2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480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1" name="Rhombus">
                <a:extLst>
                  <a:ext uri="{FF2B5EF4-FFF2-40B4-BE49-F238E27FC236}">
                    <a16:creationId xmlns:a16="http://schemas.microsoft.com/office/drawing/2014/main" id="{CF3E547A-EC35-27BE-54B9-7B95F0968C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264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2" name="Rhombus">
                <a:extLst>
                  <a:ext uri="{FF2B5EF4-FFF2-40B4-BE49-F238E27FC236}">
                    <a16:creationId xmlns:a16="http://schemas.microsoft.com/office/drawing/2014/main" id="{F5E69AF1-2D17-906A-6D61-42C8A33AB9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048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3" name="Rhombus">
                <a:extLst>
                  <a:ext uri="{FF2B5EF4-FFF2-40B4-BE49-F238E27FC236}">
                    <a16:creationId xmlns:a16="http://schemas.microsoft.com/office/drawing/2014/main" id="{6C278E9B-5521-8F86-4A25-E080FE1943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83229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4" name="Rhombus">
                <a:extLst>
                  <a:ext uri="{FF2B5EF4-FFF2-40B4-BE49-F238E27FC236}">
                    <a16:creationId xmlns:a16="http://schemas.microsoft.com/office/drawing/2014/main" id="{7C1A9A09-18B1-261A-E76F-5788562117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612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5" name="Rhombus">
                <a:extLst>
                  <a:ext uri="{FF2B5EF4-FFF2-40B4-BE49-F238E27FC236}">
                    <a16:creationId xmlns:a16="http://schemas.microsoft.com/office/drawing/2014/main" id="{61BA9050-0E3C-8E7C-0B4D-5D4CDB6FA1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5326" y="18396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6" name="Rhombus">
                <a:extLst>
                  <a:ext uri="{FF2B5EF4-FFF2-40B4-BE49-F238E27FC236}">
                    <a16:creationId xmlns:a16="http://schemas.microsoft.com/office/drawing/2014/main" id="{8368810A-219E-A9DF-5C2C-1AEC0F66B4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180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7" name="Rhombus">
                <a:extLst>
                  <a:ext uri="{FF2B5EF4-FFF2-40B4-BE49-F238E27FC236}">
                    <a16:creationId xmlns:a16="http://schemas.microsoft.com/office/drawing/2014/main" id="{CDFD1686-8CDD-1EED-7BFD-0E7DAB7B5A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7964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sp>
          <p:nvSpPr>
            <p:cNvPr id="4" name="Rhombus">
              <a:extLst>
                <a:ext uri="{FF2B5EF4-FFF2-40B4-BE49-F238E27FC236}">
                  <a16:creationId xmlns:a16="http://schemas.microsoft.com/office/drawing/2014/main" id="{A71EEF47-E599-1099-5BD9-C30569F5E1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74802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5" name="Rhombus">
              <a:extLst>
                <a:ext uri="{FF2B5EF4-FFF2-40B4-BE49-F238E27FC236}">
                  <a16:creationId xmlns:a16="http://schemas.microsoft.com/office/drawing/2014/main" id="{8D942388-0759-2456-BD1B-F63A64AEE5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50027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blipFill dpi="0" rotWithShape="1">
              <a:blip r:embed="rId5">
                <a:alphaModFix/>
                <a:grayscl/>
              </a:blip>
              <a:srcRect/>
              <a:stretch>
                <a:fillRect/>
              </a:stretch>
            </a:blip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0DDA775-8C25-4A3F-279B-66C7BE169202}"/>
              </a:ext>
            </a:extLst>
          </p:cNvPr>
          <p:cNvSpPr txBox="1"/>
          <p:nvPr/>
        </p:nvSpPr>
        <p:spPr>
          <a:xfrm>
            <a:off x="6992496" y="1198800"/>
            <a:ext cx="1096775" cy="2308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C1  </a:t>
            </a:r>
            <a:r>
              <a:rPr lang="en-CH" sz="900" dirty="0"/>
              <a:t>Sentinel-2 L2A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A5B55A-B36C-0A3B-7DEB-D8F46A4ED91E}"/>
              </a:ext>
            </a:extLst>
          </p:cNvPr>
          <p:cNvSpPr txBox="1"/>
          <p:nvPr/>
        </p:nvSpPr>
        <p:spPr>
          <a:xfrm>
            <a:off x="8264273" y="1198800"/>
            <a:ext cx="1029449" cy="2308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C2  </a:t>
            </a:r>
            <a:r>
              <a:rPr lang="en-CH" sz="900" dirty="0"/>
              <a:t>CloudScore+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E09E027-8D29-4DBF-6FE2-D52CE927808D}"/>
              </a:ext>
            </a:extLst>
          </p:cNvPr>
          <p:cNvGrpSpPr>
            <a:grpSpLocks noChangeAspect="1"/>
          </p:cNvGrpSpPr>
          <p:nvPr/>
        </p:nvGrpSpPr>
        <p:grpSpPr>
          <a:xfrm>
            <a:off x="8455240" y="1486800"/>
            <a:ext cx="648000" cy="549652"/>
            <a:chOff x="5435326" y="1750027"/>
            <a:chExt cx="1018593" cy="8640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3CD590F-FDD7-14F1-27E6-441B92D5EA23}"/>
                </a:ext>
              </a:extLst>
            </p:cNvPr>
            <p:cNvGrpSpPr/>
            <p:nvPr/>
          </p:nvGrpSpPr>
          <p:grpSpPr>
            <a:xfrm>
              <a:off x="5435326" y="1796402"/>
              <a:ext cx="1018593" cy="817625"/>
              <a:chOff x="5435326" y="1796402"/>
              <a:chExt cx="1018593" cy="817625"/>
            </a:xfrm>
          </p:grpSpPr>
          <p:sp>
            <p:nvSpPr>
              <p:cNvPr id="44" name="Rhombus">
                <a:extLst>
                  <a:ext uri="{FF2B5EF4-FFF2-40B4-BE49-F238E27FC236}">
                    <a16:creationId xmlns:a16="http://schemas.microsoft.com/office/drawing/2014/main" id="{59782184-3E13-E332-D637-D756A9758F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3802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45" name="Rhombus">
                <a:extLst>
                  <a:ext uri="{FF2B5EF4-FFF2-40B4-BE49-F238E27FC236}">
                    <a16:creationId xmlns:a16="http://schemas.microsoft.com/office/drawing/2014/main" id="{81846D5A-D050-4F5B-448B-1BC1CD6D02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16000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46" name="Rhombus">
                <a:extLst>
                  <a:ext uri="{FF2B5EF4-FFF2-40B4-BE49-F238E27FC236}">
                    <a16:creationId xmlns:a16="http://schemas.microsoft.com/office/drawing/2014/main" id="{9BC14240-F735-1EBC-DA2E-0A103202FE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9912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47" name="Rhombus">
                <a:extLst>
                  <a:ext uri="{FF2B5EF4-FFF2-40B4-BE49-F238E27FC236}">
                    <a16:creationId xmlns:a16="http://schemas.microsoft.com/office/drawing/2014/main" id="{72A51872-39DA-F577-0EB7-0B1D33528A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696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48" name="Rhombus">
                <a:extLst>
                  <a:ext uri="{FF2B5EF4-FFF2-40B4-BE49-F238E27FC236}">
                    <a16:creationId xmlns:a16="http://schemas.microsoft.com/office/drawing/2014/main" id="{FBE10C47-B25C-4AF5-910F-FEFDAF4324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480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49" name="Rhombus">
                <a:extLst>
                  <a:ext uri="{FF2B5EF4-FFF2-40B4-BE49-F238E27FC236}">
                    <a16:creationId xmlns:a16="http://schemas.microsoft.com/office/drawing/2014/main" id="{FE20AD1B-DBB0-BFFA-6035-CCEFBE2C9B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264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0" name="Rhombus">
                <a:extLst>
                  <a:ext uri="{FF2B5EF4-FFF2-40B4-BE49-F238E27FC236}">
                    <a16:creationId xmlns:a16="http://schemas.microsoft.com/office/drawing/2014/main" id="{C7B0C450-4A75-B4F2-AD8C-B563B6C417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048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1" name="Rhombus">
                <a:extLst>
                  <a:ext uri="{FF2B5EF4-FFF2-40B4-BE49-F238E27FC236}">
                    <a16:creationId xmlns:a16="http://schemas.microsoft.com/office/drawing/2014/main" id="{186BEDD1-AD73-1263-6061-EA09F63B5F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83229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2" name="Rhombus">
                <a:extLst>
                  <a:ext uri="{FF2B5EF4-FFF2-40B4-BE49-F238E27FC236}">
                    <a16:creationId xmlns:a16="http://schemas.microsoft.com/office/drawing/2014/main" id="{8D007D9D-09B6-C361-546B-3FA0138758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612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3" name="Rhombus">
                <a:extLst>
                  <a:ext uri="{FF2B5EF4-FFF2-40B4-BE49-F238E27FC236}">
                    <a16:creationId xmlns:a16="http://schemas.microsoft.com/office/drawing/2014/main" id="{B8C14455-E749-0525-4488-E3AA641288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5326" y="18396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4" name="Rhombus">
                <a:extLst>
                  <a:ext uri="{FF2B5EF4-FFF2-40B4-BE49-F238E27FC236}">
                    <a16:creationId xmlns:a16="http://schemas.microsoft.com/office/drawing/2014/main" id="{EB88F288-196F-999E-2760-506E4262CE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180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5" name="Rhombus">
                <a:extLst>
                  <a:ext uri="{FF2B5EF4-FFF2-40B4-BE49-F238E27FC236}">
                    <a16:creationId xmlns:a16="http://schemas.microsoft.com/office/drawing/2014/main" id="{52647D2C-EDED-EB19-B8EC-7519FBE9FB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7964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sp>
          <p:nvSpPr>
            <p:cNvPr id="42" name="Rhombus">
              <a:extLst>
                <a:ext uri="{FF2B5EF4-FFF2-40B4-BE49-F238E27FC236}">
                  <a16:creationId xmlns:a16="http://schemas.microsoft.com/office/drawing/2014/main" id="{F65DE816-1EA3-42C2-4CA3-2173609B48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74802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43" name="Rhombus">
              <a:extLst>
                <a:ext uri="{FF2B5EF4-FFF2-40B4-BE49-F238E27FC236}">
                  <a16:creationId xmlns:a16="http://schemas.microsoft.com/office/drawing/2014/main" id="{C2776FA2-86E4-5822-C0B9-6D838DF4A5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50027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blipFill dpi="0" rotWithShape="1">
              <a:blip r:embed="rId6"/>
              <a:srcRect/>
              <a:stretch>
                <a:fillRect/>
              </a:stretch>
            </a:blip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F29B7D8-4703-C69D-265F-4B63379D2B58}"/>
              </a:ext>
            </a:extLst>
          </p:cNvPr>
          <p:cNvGrpSpPr>
            <a:grpSpLocks noChangeAspect="1"/>
          </p:cNvGrpSpPr>
          <p:nvPr/>
        </p:nvGrpSpPr>
        <p:grpSpPr>
          <a:xfrm>
            <a:off x="7839599" y="2503264"/>
            <a:ext cx="648000" cy="549652"/>
            <a:chOff x="5435326" y="1750027"/>
            <a:chExt cx="1018593" cy="8640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C1380B8-4638-2B1B-6B81-F56666371AA5}"/>
                </a:ext>
              </a:extLst>
            </p:cNvPr>
            <p:cNvGrpSpPr/>
            <p:nvPr/>
          </p:nvGrpSpPr>
          <p:grpSpPr>
            <a:xfrm>
              <a:off x="5435326" y="1796402"/>
              <a:ext cx="1018593" cy="817625"/>
              <a:chOff x="5435326" y="1796402"/>
              <a:chExt cx="1018593" cy="817625"/>
            </a:xfrm>
          </p:grpSpPr>
          <p:sp>
            <p:nvSpPr>
              <p:cNvPr id="76" name="Rhombus">
                <a:extLst>
                  <a:ext uri="{FF2B5EF4-FFF2-40B4-BE49-F238E27FC236}">
                    <a16:creationId xmlns:a16="http://schemas.microsoft.com/office/drawing/2014/main" id="{1A529889-A1CB-70A4-F010-1E21A65CF7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3802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77" name="Rhombus">
                <a:extLst>
                  <a:ext uri="{FF2B5EF4-FFF2-40B4-BE49-F238E27FC236}">
                    <a16:creationId xmlns:a16="http://schemas.microsoft.com/office/drawing/2014/main" id="{18B62F58-6A8B-EE7C-96C6-3E65F7D949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16000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78" name="Rhombus">
                <a:extLst>
                  <a:ext uri="{FF2B5EF4-FFF2-40B4-BE49-F238E27FC236}">
                    <a16:creationId xmlns:a16="http://schemas.microsoft.com/office/drawing/2014/main" id="{19EF2742-E0C0-4EE9-D062-F1A095AFF5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9912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79" name="Rhombus">
                <a:extLst>
                  <a:ext uri="{FF2B5EF4-FFF2-40B4-BE49-F238E27FC236}">
                    <a16:creationId xmlns:a16="http://schemas.microsoft.com/office/drawing/2014/main" id="{96A8CF7A-6990-C53D-21FE-F9939823DB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696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0" name="Rhombus">
                <a:extLst>
                  <a:ext uri="{FF2B5EF4-FFF2-40B4-BE49-F238E27FC236}">
                    <a16:creationId xmlns:a16="http://schemas.microsoft.com/office/drawing/2014/main" id="{960A3394-837C-52C8-9CEE-1FB166F441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480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1" name="Rhombus">
                <a:extLst>
                  <a:ext uri="{FF2B5EF4-FFF2-40B4-BE49-F238E27FC236}">
                    <a16:creationId xmlns:a16="http://schemas.microsoft.com/office/drawing/2014/main" id="{CABCA015-3759-EA32-BA0A-32326EBFB8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264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2" name="Rhombus">
                <a:extLst>
                  <a:ext uri="{FF2B5EF4-FFF2-40B4-BE49-F238E27FC236}">
                    <a16:creationId xmlns:a16="http://schemas.microsoft.com/office/drawing/2014/main" id="{B62718A2-5AAE-8DBB-A885-D903B84C67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048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3" name="Rhombus">
                <a:extLst>
                  <a:ext uri="{FF2B5EF4-FFF2-40B4-BE49-F238E27FC236}">
                    <a16:creationId xmlns:a16="http://schemas.microsoft.com/office/drawing/2014/main" id="{4566F4C4-D3B7-DA39-367C-6AC5504B13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83229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4" name="Rhombus">
                <a:extLst>
                  <a:ext uri="{FF2B5EF4-FFF2-40B4-BE49-F238E27FC236}">
                    <a16:creationId xmlns:a16="http://schemas.microsoft.com/office/drawing/2014/main" id="{9ECABAB0-ECA2-A79D-E40B-8AF1A9B5F2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612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5" name="Rhombus">
                <a:extLst>
                  <a:ext uri="{FF2B5EF4-FFF2-40B4-BE49-F238E27FC236}">
                    <a16:creationId xmlns:a16="http://schemas.microsoft.com/office/drawing/2014/main" id="{B1780C33-CFE6-AA69-33AB-DAF263051C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5326" y="18396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6" name="Rhombus">
                <a:extLst>
                  <a:ext uri="{FF2B5EF4-FFF2-40B4-BE49-F238E27FC236}">
                    <a16:creationId xmlns:a16="http://schemas.microsoft.com/office/drawing/2014/main" id="{81F10D0F-03CA-9F9F-7C72-E9C9102BB9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180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7" name="Rhombus">
                <a:extLst>
                  <a:ext uri="{FF2B5EF4-FFF2-40B4-BE49-F238E27FC236}">
                    <a16:creationId xmlns:a16="http://schemas.microsoft.com/office/drawing/2014/main" id="{C25927F2-173C-8301-771E-EE87B9D4D1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7964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sp>
          <p:nvSpPr>
            <p:cNvPr id="74" name="Rhombus">
              <a:extLst>
                <a:ext uri="{FF2B5EF4-FFF2-40B4-BE49-F238E27FC236}">
                  <a16:creationId xmlns:a16="http://schemas.microsoft.com/office/drawing/2014/main" id="{2A60EB37-879E-BC0D-66FB-A4800F431D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74802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75" name="Rhombus">
              <a:extLst>
                <a:ext uri="{FF2B5EF4-FFF2-40B4-BE49-F238E27FC236}">
                  <a16:creationId xmlns:a16="http://schemas.microsoft.com/office/drawing/2014/main" id="{48945FBC-D99A-9FA6-9745-A47D87A9EC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50027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blipFill dpi="0" rotWithShape="1">
              <a:blip r:embed="rId7">
                <a:grayscl/>
              </a:blip>
              <a:srcRect/>
              <a:stretch>
                <a:fillRect/>
              </a:stretch>
            </a:blip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C2A401-9605-2E65-ECE0-14314C29BE52}"/>
              </a:ext>
            </a:extLst>
          </p:cNvPr>
          <p:cNvGrpSpPr/>
          <p:nvPr/>
        </p:nvGrpSpPr>
        <p:grpSpPr>
          <a:xfrm>
            <a:off x="7544626" y="1957651"/>
            <a:ext cx="1228322" cy="494473"/>
            <a:chOff x="7200890" y="1392100"/>
            <a:chExt cx="1863099" cy="494473"/>
          </a:xfrm>
        </p:grpSpPr>
        <p:sp>
          <p:nvSpPr>
            <p:cNvPr id="69" name="Left Bracket 68">
              <a:extLst>
                <a:ext uri="{FF2B5EF4-FFF2-40B4-BE49-F238E27FC236}">
                  <a16:creationId xmlns:a16="http://schemas.microsoft.com/office/drawing/2014/main" id="{ADB8193B-D327-3A2F-559B-69E9BFCDD65E}"/>
                </a:ext>
              </a:extLst>
            </p:cNvPr>
            <p:cNvSpPr/>
            <p:nvPr/>
          </p:nvSpPr>
          <p:spPr>
            <a:xfrm rot="16200000">
              <a:off x="8063858" y="737922"/>
              <a:ext cx="137164" cy="1863099"/>
            </a:xfrm>
            <a:prstGeom prst="leftBracket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67B19E9-1ED5-A3FF-DE70-E0545EAD426E}"/>
                </a:ext>
              </a:extLst>
            </p:cNvPr>
            <p:cNvCxnSpPr>
              <a:cxnSpLocks/>
            </p:cNvCxnSpPr>
            <p:nvPr/>
          </p:nvCxnSpPr>
          <p:spPr>
            <a:xfrm>
              <a:off x="8125847" y="1738054"/>
              <a:ext cx="688" cy="148519"/>
            </a:xfrm>
            <a:prstGeom prst="straightConnector1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F2D00BC-55B3-384C-B54E-77666319D316}"/>
                </a:ext>
              </a:extLst>
            </p:cNvPr>
            <p:cNvSpPr txBox="1"/>
            <p:nvPr/>
          </p:nvSpPr>
          <p:spPr>
            <a:xfrm>
              <a:off x="7365030" y="1392100"/>
              <a:ext cx="1583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900" b="1" dirty="0"/>
                <a:t>C3</a:t>
              </a:r>
              <a:r>
                <a:rPr lang="en-CH" sz="900" dirty="0"/>
                <a:t>  </a:t>
              </a:r>
              <a:r>
                <a:rPr lang="en-CH" sz="900" i="1" dirty="0"/>
                <a:t>Pixel-based cloud masking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BA20270-4C49-1476-9767-1F8BD92C3196}"/>
              </a:ext>
            </a:extLst>
          </p:cNvPr>
          <p:cNvGrpSpPr>
            <a:grpSpLocks noChangeAspect="1"/>
          </p:cNvGrpSpPr>
          <p:nvPr/>
        </p:nvGrpSpPr>
        <p:grpSpPr>
          <a:xfrm>
            <a:off x="5842539" y="2468585"/>
            <a:ext cx="415481" cy="411272"/>
            <a:chOff x="983156" y="1984158"/>
            <a:chExt cx="335834" cy="332432"/>
          </a:xfrm>
          <a:solidFill>
            <a:schemeClr val="bg2">
              <a:lumMod val="90000"/>
            </a:schemeClr>
          </a:solidFill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C767025-4994-3F04-127C-1ADF661AE17C}"/>
                </a:ext>
              </a:extLst>
            </p:cNvPr>
            <p:cNvSpPr/>
            <p:nvPr/>
          </p:nvSpPr>
          <p:spPr>
            <a:xfrm>
              <a:off x="983156" y="1984158"/>
              <a:ext cx="335834" cy="332432"/>
            </a:xfrm>
            <a:prstGeom prst="rect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H" sz="1400" b="0" i="0" u="none" strike="noStrike" cap="none" spc="0" normalizeH="0" baseline="0" dirty="0">
                <a:ln>
                  <a:noFill/>
                </a:ln>
                <a:solidFill>
                  <a:srgbClr val="122334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853D10A-17BE-2136-DDCE-92E7BEA29FBE}"/>
                </a:ext>
              </a:extLst>
            </p:cNvPr>
            <p:cNvCxnSpPr>
              <a:cxnSpLocks/>
            </p:cNvCxnSpPr>
            <p:nvPr/>
          </p:nvCxnSpPr>
          <p:spPr>
            <a:xfrm>
              <a:off x="983156" y="2054137"/>
              <a:ext cx="335834" cy="0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C5545CE-8FA6-613C-64BA-1F63FB312F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681" y="1984158"/>
              <a:ext cx="0" cy="332432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024DF72-4109-C9E9-D874-BA726D3B841F}"/>
              </a:ext>
            </a:extLst>
          </p:cNvPr>
          <p:cNvGrpSpPr>
            <a:grpSpLocks noChangeAspect="1"/>
          </p:cNvGrpSpPr>
          <p:nvPr/>
        </p:nvGrpSpPr>
        <p:grpSpPr>
          <a:xfrm>
            <a:off x="5797322" y="3317192"/>
            <a:ext cx="554359" cy="549692"/>
            <a:chOff x="6444000" y="4968000"/>
            <a:chExt cx="639418" cy="634034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CD75527-0A31-B616-3FDD-0E2221BA79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44000" y="4968000"/>
              <a:ext cx="531418" cy="526034"/>
              <a:chOff x="983156" y="1984158"/>
              <a:chExt cx="335834" cy="332432"/>
            </a:xfrm>
            <a:solidFill>
              <a:schemeClr val="bg2">
                <a:lumMod val="90000"/>
              </a:schemeClr>
            </a:solidFill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37DE691C-E0F8-1B8F-1264-F3F8D249ED02}"/>
                  </a:ext>
                </a:extLst>
              </p:cNvPr>
              <p:cNvSpPr/>
              <p:nvPr/>
            </p:nvSpPr>
            <p:spPr>
              <a:xfrm>
                <a:off x="983156" y="1984158"/>
                <a:ext cx="335834" cy="332432"/>
              </a:xfrm>
              <a:prstGeom prst="rect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dash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CH" sz="1400" b="0" i="0" u="none" strike="noStrike" cap="none" spc="0" normalizeH="0" baseline="0" dirty="0">
                  <a:ln>
                    <a:noFill/>
                  </a:ln>
                  <a:solidFill>
                    <a:srgbClr val="122334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endParaRPr>
              </a:p>
            </p:txBody>
          </p: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A3156E2E-7155-5641-4AAB-148FCA5CEC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156" y="2054137"/>
                <a:ext cx="335834" cy="0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00125139-AA40-35D9-C8D9-FEEF8AD937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681" y="1984158"/>
                <a:ext cx="0" cy="332432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8B97EAD-168F-4AB4-F838-6B11DE7C29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98000" y="5022000"/>
              <a:ext cx="531418" cy="526034"/>
              <a:chOff x="983156" y="1984158"/>
              <a:chExt cx="335834" cy="332432"/>
            </a:xfrm>
            <a:solidFill>
              <a:schemeClr val="bg2">
                <a:lumMod val="90000"/>
              </a:schemeClr>
            </a:solidFill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E0104F7E-7A15-12EB-1E37-791F198A9CC8}"/>
                  </a:ext>
                </a:extLst>
              </p:cNvPr>
              <p:cNvSpPr/>
              <p:nvPr/>
            </p:nvSpPr>
            <p:spPr>
              <a:xfrm>
                <a:off x="983156" y="1984158"/>
                <a:ext cx="335834" cy="332432"/>
              </a:xfrm>
              <a:prstGeom prst="rect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CH" sz="1400" b="0" i="0" u="none" strike="noStrike" cap="none" spc="0" normalizeH="0" baseline="0" dirty="0">
                  <a:ln>
                    <a:noFill/>
                  </a:ln>
                  <a:solidFill>
                    <a:srgbClr val="122334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endParaRPr>
              </a:p>
            </p:txBody>
          </p: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6EBD1074-6E1D-54F2-5622-1DD4DB5D7D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156" y="2054137"/>
                <a:ext cx="335834" cy="0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F6A2E3C3-E54E-B31F-6687-036F8A8B1D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681" y="1984158"/>
                <a:ext cx="0" cy="332432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AE777D8-533B-FB9B-9BE7-CD118B86BC5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52000" y="5076000"/>
              <a:ext cx="531418" cy="526034"/>
              <a:chOff x="983156" y="1984158"/>
              <a:chExt cx="335834" cy="332432"/>
            </a:xfrm>
            <a:solidFill>
              <a:schemeClr val="bg2">
                <a:lumMod val="90000"/>
              </a:schemeClr>
            </a:solidFill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21D58F1D-00BA-5664-0D41-66F45CC1E24E}"/>
                  </a:ext>
                </a:extLst>
              </p:cNvPr>
              <p:cNvSpPr/>
              <p:nvPr/>
            </p:nvSpPr>
            <p:spPr>
              <a:xfrm>
                <a:off x="983156" y="1984158"/>
                <a:ext cx="335834" cy="332432"/>
              </a:xfrm>
              <a:prstGeom prst="rect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CH" sz="1400" b="0" i="0" u="none" strike="noStrike" cap="none" spc="0" normalizeH="0" baseline="0" dirty="0">
                  <a:ln>
                    <a:noFill/>
                  </a:ln>
                  <a:solidFill>
                    <a:srgbClr val="122334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endParaRPr>
              </a:p>
            </p:txBody>
          </p: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39CDE2B1-8984-0777-102D-3442377BDE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156" y="2054137"/>
                <a:ext cx="335834" cy="0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91EDE36A-EFB7-CAC4-603D-99D2D8A93E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681" y="1984158"/>
                <a:ext cx="0" cy="332432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CE23B21-D4A3-832D-15F2-49280875E268}"/>
              </a:ext>
            </a:extLst>
          </p:cNvPr>
          <p:cNvCxnSpPr>
            <a:cxnSpLocks/>
          </p:cNvCxnSpPr>
          <p:nvPr/>
        </p:nvCxnSpPr>
        <p:spPr>
          <a:xfrm>
            <a:off x="6040845" y="2975531"/>
            <a:ext cx="0" cy="28119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093B307A-5986-47FB-38D7-BE549B49F5A0}"/>
              </a:ext>
            </a:extLst>
          </p:cNvPr>
          <p:cNvSpPr txBox="1"/>
          <p:nvPr/>
        </p:nvSpPr>
        <p:spPr>
          <a:xfrm>
            <a:off x="5760373" y="2934435"/>
            <a:ext cx="180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/>
              <a:t>B3  </a:t>
            </a:r>
            <a:r>
              <a:rPr lang="en-CH" sz="900" i="1" dirty="0"/>
              <a:t>5-fold</a:t>
            </a:r>
            <a:r>
              <a:rPr lang="en-CH" sz="900" b="1" i="1" dirty="0"/>
              <a:t> </a:t>
            </a:r>
            <a:r>
              <a:rPr lang="en-CH" sz="900" i="1" dirty="0"/>
              <a:t>stratified CV</a:t>
            </a:r>
          </a:p>
          <a:p>
            <a:pPr algn="ctr"/>
            <a:r>
              <a:rPr lang="en-CH" sz="900" i="1" dirty="0"/>
              <a:t>(by ecoregion)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08EFE43-A9D7-E7CF-FA40-8B10542FDD63}"/>
              </a:ext>
            </a:extLst>
          </p:cNvPr>
          <p:cNvCxnSpPr>
            <a:cxnSpLocks/>
          </p:cNvCxnSpPr>
          <p:nvPr/>
        </p:nvCxnSpPr>
        <p:spPr>
          <a:xfrm flipH="1">
            <a:off x="7636301" y="3121200"/>
            <a:ext cx="506033" cy="363535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A7059274-7BF5-639D-C39F-EA844349D167}"/>
              </a:ext>
            </a:extLst>
          </p:cNvPr>
          <p:cNvCxnSpPr>
            <a:cxnSpLocks/>
          </p:cNvCxnSpPr>
          <p:nvPr/>
        </p:nvCxnSpPr>
        <p:spPr>
          <a:xfrm>
            <a:off x="9814332" y="23341"/>
            <a:ext cx="0" cy="6834659"/>
          </a:xfrm>
          <a:prstGeom prst="line">
            <a:avLst/>
          </a:prstGeom>
          <a:ln w="1587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ADFA5AC3-1322-BA57-4C87-B7218362AAB6}"/>
              </a:ext>
            </a:extLst>
          </p:cNvPr>
          <p:cNvCxnSpPr>
            <a:cxnSpLocks/>
          </p:cNvCxnSpPr>
          <p:nvPr/>
        </p:nvCxnSpPr>
        <p:spPr>
          <a:xfrm>
            <a:off x="1650100" y="89873"/>
            <a:ext cx="0" cy="6834659"/>
          </a:xfrm>
          <a:prstGeom prst="line">
            <a:avLst/>
          </a:prstGeom>
          <a:ln w="1587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D8702798-795A-423C-E4CC-4E9C46A63720}"/>
              </a:ext>
            </a:extLst>
          </p:cNvPr>
          <p:cNvSpPr txBox="1"/>
          <p:nvPr/>
        </p:nvSpPr>
        <p:spPr>
          <a:xfrm>
            <a:off x="1909652" y="3655625"/>
            <a:ext cx="13324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A1</a:t>
            </a:r>
            <a:r>
              <a:rPr lang="en-CH" sz="900" dirty="0"/>
              <a:t>  </a:t>
            </a:r>
            <a:r>
              <a:rPr lang="en-CH" sz="900" i="1" dirty="0"/>
              <a:t>Define input ranges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CF6E48B4-7B49-D67B-D677-6CFB31858C27}"/>
              </a:ext>
            </a:extLst>
          </p:cNvPr>
          <p:cNvGrpSpPr/>
          <p:nvPr/>
        </p:nvGrpSpPr>
        <p:grpSpPr>
          <a:xfrm>
            <a:off x="2231080" y="3279058"/>
            <a:ext cx="777769" cy="354621"/>
            <a:chOff x="14493320" y="2284630"/>
            <a:chExt cx="2074050" cy="945657"/>
          </a:xfrm>
        </p:grpSpPr>
        <p:pic>
          <p:nvPicPr>
            <p:cNvPr id="197" name="Graphic 196" descr="Settings outline">
              <a:extLst>
                <a:ext uri="{FF2B5EF4-FFF2-40B4-BE49-F238E27FC236}">
                  <a16:creationId xmlns:a16="http://schemas.microsoft.com/office/drawing/2014/main" id="{3E57539E-83BB-4232-01C8-72DC983B7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652970" y="2315887"/>
              <a:ext cx="914400" cy="914400"/>
            </a:xfrm>
            <a:prstGeom prst="rect">
              <a:avLst/>
            </a:prstGeom>
          </p:spPr>
        </p:pic>
        <p:pic>
          <p:nvPicPr>
            <p:cNvPr id="198" name="Graphic 197" descr="Normal Distribution outline">
              <a:extLst>
                <a:ext uri="{FF2B5EF4-FFF2-40B4-BE49-F238E27FC236}">
                  <a16:creationId xmlns:a16="http://schemas.microsoft.com/office/drawing/2014/main" id="{C3CBE217-1D8B-748D-CCBE-35B79F81C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493320" y="2284630"/>
              <a:ext cx="914400" cy="914400"/>
            </a:xfrm>
            <a:prstGeom prst="rect">
              <a:avLst/>
            </a:prstGeom>
          </p:spPr>
        </p:pic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3C2D54C6-2CFC-248D-4ECA-9520E42DB180}"/>
                </a:ext>
              </a:extLst>
            </p:cNvPr>
            <p:cNvCxnSpPr/>
            <p:nvPr/>
          </p:nvCxnSpPr>
          <p:spPr>
            <a:xfrm>
              <a:off x="15509318" y="2480295"/>
              <a:ext cx="0" cy="572260"/>
            </a:xfrm>
            <a:prstGeom prst="line">
              <a:avLst/>
            </a:prstGeom>
            <a:noFill/>
            <a:ln w="15875" cap="flat">
              <a:solidFill>
                <a:schemeClr val="tx1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07" name="TextBox 206">
            <a:extLst>
              <a:ext uri="{FF2B5EF4-FFF2-40B4-BE49-F238E27FC236}">
                <a16:creationId xmlns:a16="http://schemas.microsoft.com/office/drawing/2014/main" id="{5712C1D0-B546-750E-A4B2-FC9B3F12D251}"/>
              </a:ext>
            </a:extLst>
          </p:cNvPr>
          <p:cNvSpPr txBox="1"/>
          <p:nvPr/>
        </p:nvSpPr>
        <p:spPr>
          <a:xfrm>
            <a:off x="2984869" y="1746385"/>
            <a:ext cx="9829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A4</a:t>
            </a:r>
            <a:r>
              <a:rPr lang="en-CH" sz="900" dirty="0"/>
              <a:t>  </a:t>
            </a:r>
            <a:r>
              <a:rPr lang="en-CH" sz="900" i="1" dirty="0"/>
              <a:t>Model fitting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D62ECD1-B449-6980-7528-6B9D68B33FA4}"/>
              </a:ext>
            </a:extLst>
          </p:cNvPr>
          <p:cNvSpPr txBox="1"/>
          <p:nvPr/>
        </p:nvSpPr>
        <p:spPr>
          <a:xfrm>
            <a:off x="4428474" y="2916736"/>
            <a:ext cx="97334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A6</a:t>
            </a:r>
            <a:r>
              <a:rPr lang="en-CH" sz="900" dirty="0"/>
              <a:t>  </a:t>
            </a:r>
            <a:r>
              <a:rPr lang="en-GB" sz="900" i="1" dirty="0"/>
              <a:t>Evaluate on </a:t>
            </a:r>
          </a:p>
          <a:p>
            <a:pPr algn="ctr"/>
            <a:r>
              <a:rPr lang="en-GB" sz="900" i="1" dirty="0"/>
              <a:t>calibration split</a:t>
            </a:r>
            <a:endParaRPr lang="en-CH" sz="900" i="1" dirty="0"/>
          </a:p>
        </p:txBody>
      </p:sp>
      <p:pic>
        <p:nvPicPr>
          <p:cNvPr id="214" name="Picture 213" descr="A blue and green network&#10;&#10;Description automatically generated with medium confidence">
            <a:extLst>
              <a:ext uri="{FF2B5EF4-FFF2-40B4-BE49-F238E27FC236}">
                <a16:creationId xmlns:a16="http://schemas.microsoft.com/office/drawing/2014/main" id="{E76E006F-D9D5-BAB2-CB83-4284B7736F16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834" y="1560279"/>
            <a:ext cx="463558" cy="431544"/>
          </a:xfrm>
          <a:prstGeom prst="rect">
            <a:avLst/>
          </a:prstGeom>
        </p:spPr>
      </p:pic>
      <p:grpSp>
        <p:nvGrpSpPr>
          <p:cNvPr id="215" name="Group 214">
            <a:extLst>
              <a:ext uri="{FF2B5EF4-FFF2-40B4-BE49-F238E27FC236}">
                <a16:creationId xmlns:a16="http://schemas.microsoft.com/office/drawing/2014/main" id="{CB3A4FC3-F77D-8CE3-1E1B-A4A7F3E6380C}"/>
              </a:ext>
            </a:extLst>
          </p:cNvPr>
          <p:cNvGrpSpPr>
            <a:grpSpLocks noChangeAspect="1"/>
          </p:cNvGrpSpPr>
          <p:nvPr/>
        </p:nvGrpSpPr>
        <p:grpSpPr>
          <a:xfrm>
            <a:off x="2426179" y="1601826"/>
            <a:ext cx="412884" cy="408701"/>
            <a:chOff x="983156" y="1984158"/>
            <a:chExt cx="335834" cy="332432"/>
          </a:xfrm>
          <a:solidFill>
            <a:schemeClr val="bg2">
              <a:lumMod val="90000"/>
            </a:schemeClr>
          </a:solidFill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EDC81E7E-2C1F-A680-DFCC-43F24709B41B}"/>
                </a:ext>
              </a:extLst>
            </p:cNvPr>
            <p:cNvSpPr/>
            <p:nvPr/>
          </p:nvSpPr>
          <p:spPr>
            <a:xfrm>
              <a:off x="983156" y="1984158"/>
              <a:ext cx="335834" cy="332432"/>
            </a:xfrm>
            <a:prstGeom prst="rect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H" sz="1400" b="0" i="0" u="none" strike="noStrike" cap="none" spc="0" normalizeH="0" baseline="0" dirty="0">
                <a:ln>
                  <a:noFill/>
                </a:ln>
                <a:solidFill>
                  <a:srgbClr val="122334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984E131-74DD-1F14-E1D4-B846C5119D14}"/>
                </a:ext>
              </a:extLst>
            </p:cNvPr>
            <p:cNvCxnSpPr>
              <a:cxnSpLocks/>
            </p:cNvCxnSpPr>
            <p:nvPr/>
          </p:nvCxnSpPr>
          <p:spPr>
            <a:xfrm>
              <a:off x="983156" y="2054137"/>
              <a:ext cx="335834" cy="0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FB6A8EC0-0474-6CAE-5637-E3A178D280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681" y="1984158"/>
              <a:ext cx="0" cy="332432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9" name="TextBox 218">
            <a:extLst>
              <a:ext uri="{FF2B5EF4-FFF2-40B4-BE49-F238E27FC236}">
                <a16:creationId xmlns:a16="http://schemas.microsoft.com/office/drawing/2014/main" id="{5D4E363A-3239-268B-3B9A-64412B653A0E}"/>
              </a:ext>
            </a:extLst>
          </p:cNvPr>
          <p:cNvSpPr txBox="1"/>
          <p:nvPr/>
        </p:nvSpPr>
        <p:spPr>
          <a:xfrm>
            <a:off x="2731100" y="2183058"/>
            <a:ext cx="14879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i="1" dirty="0"/>
              <a:t>Hybrid RTM retrieval</a:t>
            </a:r>
          </a:p>
          <a:p>
            <a:pPr algn="ctr"/>
            <a:endParaRPr lang="en-CH" sz="900" i="1" dirty="0"/>
          </a:p>
          <a:p>
            <a:pPr algn="ctr"/>
            <a:r>
              <a:rPr lang="en-CH" sz="900" i="1" dirty="0"/>
              <a:t>----------------</a:t>
            </a:r>
          </a:p>
          <a:p>
            <a:pPr algn="ctr"/>
            <a:endParaRPr lang="en-CH" sz="900" i="1" dirty="0"/>
          </a:p>
          <a:p>
            <a:pPr algn="ctr"/>
            <a:r>
              <a:rPr lang="en-CH" sz="900" i="1" dirty="0"/>
              <a:t>Bayesian hyperparameter </a:t>
            </a:r>
          </a:p>
          <a:p>
            <a:pPr algn="ctr"/>
            <a:r>
              <a:rPr lang="en-GB" sz="900" i="1" dirty="0"/>
              <a:t>o</a:t>
            </a:r>
            <a:r>
              <a:rPr lang="en-CH" sz="900" i="1" dirty="0"/>
              <a:t>ptimisation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D3C86C8B-F466-BBC1-A4B5-C311CA03200C}"/>
              </a:ext>
            </a:extLst>
          </p:cNvPr>
          <p:cNvCxnSpPr>
            <a:cxnSpLocks/>
          </p:cNvCxnSpPr>
          <p:nvPr/>
        </p:nvCxnSpPr>
        <p:spPr>
          <a:xfrm>
            <a:off x="3159028" y="1740510"/>
            <a:ext cx="720000" cy="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1F08A36D-6F14-9DF6-14C4-88E043F997A0}"/>
              </a:ext>
            </a:extLst>
          </p:cNvPr>
          <p:cNvCxnSpPr>
            <a:cxnSpLocks/>
          </p:cNvCxnSpPr>
          <p:nvPr/>
        </p:nvCxnSpPr>
        <p:spPr>
          <a:xfrm flipH="1" flipV="1">
            <a:off x="2640289" y="2171528"/>
            <a:ext cx="330" cy="81000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3A29EE7C-9FC4-5634-1F0F-0DA98056608C}"/>
              </a:ext>
            </a:extLst>
          </p:cNvPr>
          <p:cNvCxnSpPr>
            <a:cxnSpLocks/>
          </p:cNvCxnSpPr>
          <p:nvPr/>
        </p:nvCxnSpPr>
        <p:spPr>
          <a:xfrm rot="5400000" flipH="1">
            <a:off x="3564201" y="3197645"/>
            <a:ext cx="331" cy="72000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B67F2DC-51C7-75FC-E4D9-BDAB9B9165B4}"/>
              </a:ext>
            </a:extLst>
          </p:cNvPr>
          <p:cNvGrpSpPr/>
          <p:nvPr/>
        </p:nvGrpSpPr>
        <p:grpSpPr>
          <a:xfrm>
            <a:off x="4141310" y="3247329"/>
            <a:ext cx="531418" cy="379163"/>
            <a:chOff x="5513872" y="3794488"/>
            <a:chExt cx="1272180" cy="651701"/>
          </a:xfrm>
        </p:grpSpPr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C25800DA-92A9-C712-39F4-A87E8B3C5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3872" y="3794488"/>
              <a:ext cx="0" cy="651701"/>
            </a:xfrm>
            <a:prstGeom prst="straightConnector1">
              <a:avLst/>
            </a:prstGeom>
            <a:noFill/>
            <a:ln w="9525" cap="flat">
              <a:solidFill>
                <a:schemeClr val="bg2">
                  <a:lumMod val="50000"/>
                </a:schemeClr>
              </a:solidFill>
              <a:prstDash val="solid"/>
              <a:round/>
              <a:tailEnd type="non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65B666CA-6BBF-AEA2-46FD-0E0EFA1EA6C7}"/>
                </a:ext>
              </a:extLst>
            </p:cNvPr>
            <p:cNvCxnSpPr>
              <a:cxnSpLocks/>
            </p:cNvCxnSpPr>
            <p:nvPr/>
          </p:nvCxnSpPr>
          <p:spPr>
            <a:xfrm>
              <a:off x="5513872" y="4446068"/>
              <a:ext cx="1272180" cy="0"/>
            </a:xfrm>
            <a:prstGeom prst="straightConnector1">
              <a:avLst/>
            </a:prstGeom>
            <a:noFill/>
            <a:ln w="9525" cap="sq">
              <a:solidFill>
                <a:schemeClr val="bg2">
                  <a:lumMod val="50000"/>
                </a:schemeClr>
              </a:solidFill>
              <a:prstDash val="solid"/>
              <a:round/>
              <a:tailEnd type="non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EE0A83E0-A548-A8F7-CE49-001FD0855A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5742" y="4025679"/>
              <a:ext cx="918943" cy="261367"/>
            </a:xfrm>
            <a:prstGeom prst="line">
              <a:avLst/>
            </a:prstGeom>
            <a:noFill/>
            <a:ln w="15875" cap="flat">
              <a:solidFill>
                <a:schemeClr val="bg2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3D7F7AB0-1D2B-B005-22F2-D055D904EC05}"/>
              </a:ext>
            </a:extLst>
          </p:cNvPr>
          <p:cNvCxnSpPr>
            <a:cxnSpLocks/>
          </p:cNvCxnSpPr>
          <p:nvPr/>
        </p:nvCxnSpPr>
        <p:spPr>
          <a:xfrm flipH="1">
            <a:off x="5048648" y="3521454"/>
            <a:ext cx="585423" cy="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4F9420D9-89D4-9BB1-2833-B347A702D3E4}"/>
              </a:ext>
            </a:extLst>
          </p:cNvPr>
          <p:cNvCxnSpPr>
            <a:cxnSpLocks/>
          </p:cNvCxnSpPr>
          <p:nvPr/>
        </p:nvCxnSpPr>
        <p:spPr>
          <a:xfrm>
            <a:off x="3495373" y="3968212"/>
            <a:ext cx="0" cy="578465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3785D7A3-91D0-ED1F-3C55-746DE05C77A8}"/>
              </a:ext>
            </a:extLst>
          </p:cNvPr>
          <p:cNvSpPr txBox="1"/>
          <p:nvPr/>
        </p:nvSpPr>
        <p:spPr>
          <a:xfrm>
            <a:off x="2706395" y="851148"/>
            <a:ext cx="124906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1050" b="1" dirty="0"/>
              <a:t>(A)  </a:t>
            </a:r>
            <a:r>
              <a:rPr lang="en-CH" sz="1050" dirty="0"/>
              <a:t>Model Training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489863E-49CD-E8F2-9231-318E29AF4C1F}"/>
              </a:ext>
            </a:extLst>
          </p:cNvPr>
          <p:cNvSpPr txBox="1"/>
          <p:nvPr/>
        </p:nvSpPr>
        <p:spPr>
          <a:xfrm>
            <a:off x="1727225" y="2320490"/>
            <a:ext cx="89334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/>
              <a:t>A2 </a:t>
            </a:r>
            <a:r>
              <a:rPr lang="en-CH" sz="900" b="1" i="1" dirty="0"/>
              <a:t> </a:t>
            </a:r>
            <a:r>
              <a:rPr lang="en-CH" sz="900" i="1" dirty="0"/>
              <a:t>Simulate reflectance with PROSAIL RTM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C856329A-78BC-6A88-F3B6-F3CD14F1A167}"/>
              </a:ext>
            </a:extLst>
          </p:cNvPr>
          <p:cNvSpPr txBox="1"/>
          <p:nvPr/>
        </p:nvSpPr>
        <p:spPr>
          <a:xfrm>
            <a:off x="2746479" y="4070368"/>
            <a:ext cx="148951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A8</a:t>
            </a:r>
            <a:r>
              <a:rPr lang="en-CH" sz="900" dirty="0"/>
              <a:t>  </a:t>
            </a:r>
            <a:r>
              <a:rPr lang="en-GB" sz="900" i="1" dirty="0"/>
              <a:t>Combine best </a:t>
            </a:r>
            <a:r>
              <a:rPr lang="en-GB" sz="900" dirty="0"/>
              <a:t>models</a:t>
            </a:r>
            <a:r>
              <a:rPr lang="en-GB" sz="900" i="1" dirty="0"/>
              <a:t> </a:t>
            </a:r>
          </a:p>
          <a:p>
            <a:pPr algn="ctr"/>
            <a:r>
              <a:rPr lang="en-GB" sz="900" i="1" dirty="0"/>
              <a:t>from CV splits</a:t>
            </a:r>
            <a:endParaRPr lang="en-CH" sz="900" i="1" dirty="0"/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2931F696-1DC6-C45A-3DFC-408CCC3D79E9}"/>
              </a:ext>
            </a:extLst>
          </p:cNvPr>
          <p:cNvCxnSpPr>
            <a:cxnSpLocks/>
          </p:cNvCxnSpPr>
          <p:nvPr/>
        </p:nvCxnSpPr>
        <p:spPr>
          <a:xfrm>
            <a:off x="6051524" y="2047126"/>
            <a:ext cx="0" cy="370884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19061A09-6C26-321F-6A0A-4ECAEF1A9132}"/>
              </a:ext>
            </a:extLst>
          </p:cNvPr>
          <p:cNvSpPr txBox="1"/>
          <p:nvPr/>
        </p:nvSpPr>
        <p:spPr>
          <a:xfrm>
            <a:off x="6433739" y="2542270"/>
            <a:ext cx="13260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900" b="1" dirty="0"/>
              <a:t>B2</a:t>
            </a:r>
            <a:r>
              <a:rPr lang="en-CH" sz="900" dirty="0"/>
              <a:t>  </a:t>
            </a:r>
            <a:r>
              <a:rPr lang="en-CH" sz="900" i="1" dirty="0"/>
              <a:t>Space-time overlay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5F285725-E02B-0C21-1DB5-43C80F96AA74}"/>
              </a:ext>
            </a:extLst>
          </p:cNvPr>
          <p:cNvSpPr txBox="1"/>
          <p:nvPr/>
        </p:nvSpPr>
        <p:spPr>
          <a:xfrm>
            <a:off x="3026222" y="317384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A7</a:t>
            </a:r>
            <a:r>
              <a:rPr lang="en-CH" sz="900" dirty="0"/>
              <a:t>  </a:t>
            </a:r>
            <a:r>
              <a:rPr lang="en-CH" sz="900" i="1" dirty="0"/>
              <a:t>Repeat</a:t>
            </a:r>
          </a:p>
          <a:p>
            <a:pPr algn="ctr"/>
            <a:r>
              <a:rPr lang="en-GB" sz="900" i="1" dirty="0"/>
              <a:t>for </a:t>
            </a:r>
            <a:r>
              <a:rPr lang="en-CH" sz="900" i="1" dirty="0"/>
              <a:t>8000 iterations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2F31FBB-F605-4AA1-8775-8166FDA0383D}"/>
              </a:ext>
            </a:extLst>
          </p:cNvPr>
          <p:cNvCxnSpPr>
            <a:cxnSpLocks/>
          </p:cNvCxnSpPr>
          <p:nvPr/>
        </p:nvCxnSpPr>
        <p:spPr>
          <a:xfrm flipH="1">
            <a:off x="6039965" y="3878424"/>
            <a:ext cx="880" cy="251999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F35C4B5-FA3E-6492-FAAA-FF6D41F826C6}"/>
              </a:ext>
            </a:extLst>
          </p:cNvPr>
          <p:cNvSpPr txBox="1"/>
          <p:nvPr/>
        </p:nvSpPr>
        <p:spPr>
          <a:xfrm>
            <a:off x="5293185" y="4085693"/>
            <a:ext cx="1568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/>
              <a:t>B4  </a:t>
            </a:r>
            <a:r>
              <a:rPr lang="en-CH" sz="900" i="1" dirty="0"/>
              <a:t>Assess performance on validation split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3CEA0C-E0AC-2FBF-12D7-41C2FC3F587A}"/>
              </a:ext>
            </a:extLst>
          </p:cNvPr>
          <p:cNvSpPr txBox="1"/>
          <p:nvPr/>
        </p:nvSpPr>
        <p:spPr>
          <a:xfrm>
            <a:off x="3798448" y="1198800"/>
            <a:ext cx="1124026" cy="2308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A5</a:t>
            </a:r>
            <a:r>
              <a:rPr lang="en-CH" sz="900" dirty="0"/>
              <a:t>  MLP-</a:t>
            </a:r>
            <a:r>
              <a:rPr lang="en-CH" sz="900" i="1" dirty="0"/>
              <a:t>Regressor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4FA50B-7F99-AF03-7C17-27CD37093626}"/>
              </a:ext>
            </a:extLst>
          </p:cNvPr>
          <p:cNvSpPr txBox="1"/>
          <p:nvPr/>
        </p:nvSpPr>
        <p:spPr>
          <a:xfrm>
            <a:off x="5011697" y="861658"/>
            <a:ext cx="2127505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1050" b="1" dirty="0"/>
              <a:t>(B)  </a:t>
            </a:r>
            <a:r>
              <a:rPr lang="en-CH" sz="1050" dirty="0"/>
              <a:t>Model Calibration / Validation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68D581-A60E-0D84-F078-DB1DE655B376}"/>
              </a:ext>
            </a:extLst>
          </p:cNvPr>
          <p:cNvSpPr txBox="1"/>
          <p:nvPr/>
        </p:nvSpPr>
        <p:spPr>
          <a:xfrm>
            <a:off x="7497514" y="862147"/>
            <a:ext cx="1394934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1050" b="1" dirty="0"/>
              <a:t>(C)  </a:t>
            </a:r>
            <a:r>
              <a:rPr lang="en-CH" sz="1050" dirty="0"/>
              <a:t>Model Prediction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98B892A-513D-CD58-C899-EB548CFB3872}"/>
              </a:ext>
            </a:extLst>
          </p:cNvPr>
          <p:cNvCxnSpPr>
            <a:cxnSpLocks/>
          </p:cNvCxnSpPr>
          <p:nvPr/>
        </p:nvCxnSpPr>
        <p:spPr>
          <a:xfrm flipH="1">
            <a:off x="6416179" y="2777023"/>
            <a:ext cx="1146256" cy="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38D4EEE-7A78-15B2-1D49-92B7A41A477F}"/>
              </a:ext>
            </a:extLst>
          </p:cNvPr>
          <p:cNvGrpSpPr/>
          <p:nvPr/>
        </p:nvGrpSpPr>
        <p:grpSpPr>
          <a:xfrm>
            <a:off x="2880877" y="4575661"/>
            <a:ext cx="1433973" cy="773633"/>
            <a:chOff x="2600037" y="4693330"/>
            <a:chExt cx="1433973" cy="773633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B4BCDDC-0669-A1BA-F372-6111CCE1E393}"/>
                </a:ext>
              </a:extLst>
            </p:cNvPr>
            <p:cNvSpPr/>
            <p:nvPr/>
          </p:nvSpPr>
          <p:spPr>
            <a:xfrm>
              <a:off x="2600037" y="4693330"/>
              <a:ext cx="1433973" cy="4043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3B6333D6-1944-359F-A264-CF84A5F5AD73}"/>
                </a:ext>
              </a:extLst>
            </p:cNvPr>
            <p:cNvGrpSpPr/>
            <p:nvPr/>
          </p:nvGrpSpPr>
          <p:grpSpPr>
            <a:xfrm>
              <a:off x="2600038" y="4774354"/>
              <a:ext cx="1431154" cy="692609"/>
              <a:chOff x="2600038" y="4774354"/>
              <a:chExt cx="1431154" cy="692609"/>
            </a:xfrm>
          </p:grpSpPr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C6629BE-F87F-9C5B-14D2-3BCCB80F7502}"/>
                  </a:ext>
                </a:extLst>
              </p:cNvPr>
              <p:cNvSpPr txBox="1"/>
              <p:nvPr/>
            </p:nvSpPr>
            <p:spPr>
              <a:xfrm>
                <a:off x="2600038" y="5097631"/>
                <a:ext cx="143115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H" sz="900" b="1" dirty="0"/>
                  <a:t>A9  </a:t>
                </a:r>
                <a:r>
                  <a:rPr lang="en-CH" sz="900" dirty="0"/>
                  <a:t>Model ensemble</a:t>
                </a:r>
              </a:p>
              <a:p>
                <a:pPr algn="ctr"/>
                <a:r>
                  <a:rPr lang="en-CH" sz="900" b="1" i="1" dirty="0"/>
                  <a:t>S2BIOPHYS</a:t>
                </a:r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DB8AE063-157B-975D-4AB8-1066C313E0DB}"/>
                  </a:ext>
                </a:extLst>
              </p:cNvPr>
              <p:cNvGrpSpPr/>
              <p:nvPr/>
            </p:nvGrpSpPr>
            <p:grpSpPr>
              <a:xfrm>
                <a:off x="2685435" y="4774354"/>
                <a:ext cx="1268266" cy="265336"/>
                <a:chOff x="2910329" y="5406451"/>
                <a:chExt cx="2108085" cy="371866"/>
              </a:xfrm>
            </p:grpSpPr>
            <p:pic>
              <p:nvPicPr>
                <p:cNvPr id="149" name="Picture 148" descr="A blue and green network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BFC1D398-E64D-CDF7-2068-06643DB943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10329" y="5418385"/>
                  <a:ext cx="376732" cy="359932"/>
                </a:xfrm>
                <a:prstGeom prst="rect">
                  <a:avLst/>
                </a:prstGeom>
              </p:spPr>
            </p:pic>
            <p:pic>
              <p:nvPicPr>
                <p:cNvPr id="157" name="Picture 156" descr="A blue and green network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D423FA87-3E7E-6499-B815-BB199E925C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42969" y="5412246"/>
                  <a:ext cx="376732" cy="359932"/>
                </a:xfrm>
                <a:prstGeom prst="rect">
                  <a:avLst/>
                </a:prstGeom>
              </p:spPr>
            </p:pic>
            <p:pic>
              <p:nvPicPr>
                <p:cNvPr id="158" name="Picture 157" descr="A blue and green network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DC0E636B-CBE8-597B-E0FD-A542CA9F12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80522" y="5406451"/>
                  <a:ext cx="376732" cy="359932"/>
                </a:xfrm>
                <a:prstGeom prst="rect">
                  <a:avLst/>
                </a:prstGeom>
              </p:spPr>
            </p:pic>
            <p:pic>
              <p:nvPicPr>
                <p:cNvPr id="159" name="Picture 158" descr="A blue and green network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F54326CE-EEC1-96E0-21C8-60835CE82B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11102" y="5409987"/>
                  <a:ext cx="376732" cy="359932"/>
                </a:xfrm>
                <a:prstGeom prst="rect">
                  <a:avLst/>
                </a:prstGeom>
              </p:spPr>
            </p:pic>
            <p:pic>
              <p:nvPicPr>
                <p:cNvPr id="160" name="Picture 159" descr="A blue and green network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432213DE-9D13-FA1F-30BB-48B520C63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41682" y="5406451"/>
                  <a:ext cx="376732" cy="359932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87" name="TextBox 286">
            <a:extLst>
              <a:ext uri="{FF2B5EF4-FFF2-40B4-BE49-F238E27FC236}">
                <a16:creationId xmlns:a16="http://schemas.microsoft.com/office/drawing/2014/main" id="{57E863C2-102C-4D8E-FEC4-27943C18A188}"/>
              </a:ext>
            </a:extLst>
          </p:cNvPr>
          <p:cNvSpPr txBox="1"/>
          <p:nvPr/>
        </p:nvSpPr>
        <p:spPr>
          <a:xfrm>
            <a:off x="1744742" y="1198800"/>
            <a:ext cx="1552028" cy="2308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A3  </a:t>
            </a:r>
            <a:r>
              <a:rPr lang="en-CH" sz="900" dirty="0"/>
              <a:t>Simulated Training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5AEF99-DA69-EF8F-2164-20C19D91953B}"/>
              </a:ext>
            </a:extLst>
          </p:cNvPr>
          <p:cNvSpPr txBox="1"/>
          <p:nvPr/>
        </p:nvSpPr>
        <p:spPr>
          <a:xfrm>
            <a:off x="66173" y="1105064"/>
            <a:ext cx="12576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Version </a:t>
            </a:r>
          </a:p>
          <a:p>
            <a:r>
              <a:rPr lang="en-CH" dirty="0"/>
              <a:t>One-Earth </a:t>
            </a:r>
          </a:p>
          <a:p>
            <a:r>
              <a:rPr lang="en-GB" dirty="0"/>
              <a:t>R</a:t>
            </a:r>
            <a:r>
              <a:rPr lang="en-CH" dirty="0"/>
              <a:t>evision 1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9C3FE1F-FDB8-CDAE-BC86-5F6052D678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4764" y="4891296"/>
            <a:ext cx="1269253" cy="477795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AB72C4F5-8D01-CE67-E586-44B876DA01A7}"/>
              </a:ext>
            </a:extLst>
          </p:cNvPr>
          <p:cNvGrpSpPr>
            <a:grpSpLocks noChangeAspect="1"/>
          </p:cNvGrpSpPr>
          <p:nvPr/>
        </p:nvGrpSpPr>
        <p:grpSpPr>
          <a:xfrm>
            <a:off x="7234469" y="5448687"/>
            <a:ext cx="648000" cy="481305"/>
            <a:chOff x="7307965" y="5801704"/>
            <a:chExt cx="1022748" cy="759650"/>
          </a:xfrm>
        </p:grpSpPr>
        <p:sp>
          <p:nvSpPr>
            <p:cNvPr id="38" name="Rhombus">
              <a:extLst>
                <a:ext uri="{FF2B5EF4-FFF2-40B4-BE49-F238E27FC236}">
                  <a16:creationId xmlns:a16="http://schemas.microsoft.com/office/drawing/2014/main" id="{6ACCC79F-3A9E-91C9-5E6F-05CACBE9D3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13468" y="5985354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56" name="Rhombus">
              <a:extLst>
                <a:ext uri="{FF2B5EF4-FFF2-40B4-BE49-F238E27FC236}">
                  <a16:creationId xmlns:a16="http://schemas.microsoft.com/office/drawing/2014/main" id="{07581898-68C4-0B79-BE1A-36B65EC93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07965" y="5895257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57" name="Rhombus">
              <a:extLst>
                <a:ext uri="{FF2B5EF4-FFF2-40B4-BE49-F238E27FC236}">
                  <a16:creationId xmlns:a16="http://schemas.microsoft.com/office/drawing/2014/main" id="{F56D7180-6163-052D-0DEB-95106A25F6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11142" y="5801704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CB4F7F0-7AE7-F722-3E30-F032C9C872EB}"/>
              </a:ext>
            </a:extLst>
          </p:cNvPr>
          <p:cNvCxnSpPr>
            <a:cxnSpLocks/>
          </p:cNvCxnSpPr>
          <p:nvPr/>
        </p:nvCxnSpPr>
        <p:spPr>
          <a:xfrm>
            <a:off x="4483672" y="4878951"/>
            <a:ext cx="2655530" cy="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89AADFB2-D7A1-EBCE-B494-4CD8830BB223}"/>
              </a:ext>
            </a:extLst>
          </p:cNvPr>
          <p:cNvSpPr txBox="1"/>
          <p:nvPr/>
        </p:nvSpPr>
        <p:spPr>
          <a:xfrm>
            <a:off x="8206246" y="3497976"/>
            <a:ext cx="145022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/>
              <a:t>C8</a:t>
            </a:r>
            <a:r>
              <a:rPr lang="en-CH" sz="900" dirty="0"/>
              <a:t>  </a:t>
            </a:r>
            <a:r>
              <a:rPr lang="en-CH" sz="900" i="1" dirty="0"/>
              <a:t>Python package </a:t>
            </a:r>
            <a:r>
              <a:rPr lang="en-CH" sz="900" dirty="0">
                <a:latin typeface="PT Mono" panose="02060509020205020204" pitchFamily="49" charset="77"/>
              </a:rPr>
              <a:t>gee-biophys</a:t>
            </a:r>
          </a:p>
          <a:p>
            <a:pPr algn="ctr"/>
            <a:endParaRPr lang="en-CH" sz="900" b="1" i="1" dirty="0"/>
          </a:p>
          <a:p>
            <a:pPr algn="ctr"/>
            <a:r>
              <a:rPr lang="en-CH" sz="900" i="1" dirty="0"/>
              <a:t>-----</a:t>
            </a:r>
          </a:p>
          <a:p>
            <a:pPr algn="ctr"/>
            <a:endParaRPr lang="en-CH" sz="900" i="1" dirty="0"/>
          </a:p>
          <a:p>
            <a:pPr algn="ctr"/>
            <a:r>
              <a:rPr lang="en-CH" sz="900" i="1" dirty="0"/>
              <a:t>Export custom spatial extents and flexible temporal frequencies</a:t>
            </a:r>
          </a:p>
          <a:p>
            <a:pPr algn="ctr"/>
            <a:r>
              <a:rPr lang="en-CH" sz="900" i="1" dirty="0"/>
              <a:t>(e.g. monthly)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B704754-8720-AE85-6874-9726C383B386}"/>
              </a:ext>
            </a:extLst>
          </p:cNvPr>
          <p:cNvSpPr txBox="1"/>
          <p:nvPr/>
        </p:nvSpPr>
        <p:spPr>
          <a:xfrm>
            <a:off x="6936933" y="3483239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C4</a:t>
            </a:r>
            <a:r>
              <a:rPr lang="en-CH" sz="900" dirty="0"/>
              <a:t>  </a:t>
            </a:r>
            <a:r>
              <a:rPr lang="en-CH" sz="900" i="1" dirty="0"/>
              <a:t>NDVI-based </a:t>
            </a:r>
            <a:r>
              <a:rPr lang="en-US" sz="900" i="1" dirty="0"/>
              <a:t>image </a:t>
            </a:r>
          </a:p>
          <a:p>
            <a:r>
              <a:rPr lang="en-US" sz="900" i="1" dirty="0"/>
              <a:t>selection</a:t>
            </a:r>
            <a:endParaRPr lang="en-CH" sz="900" i="1" dirty="0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0F5F42-9C18-313D-B81A-C935D361E422}"/>
              </a:ext>
            </a:extLst>
          </p:cNvPr>
          <p:cNvGrpSpPr>
            <a:grpSpLocks noChangeAspect="1"/>
          </p:cNvGrpSpPr>
          <p:nvPr/>
        </p:nvGrpSpPr>
        <p:grpSpPr>
          <a:xfrm>
            <a:off x="7222993" y="3834465"/>
            <a:ext cx="648000" cy="476634"/>
            <a:chOff x="6980968" y="1623633"/>
            <a:chExt cx="1018593" cy="749223"/>
          </a:xfrm>
        </p:grpSpPr>
        <p:sp>
          <p:nvSpPr>
            <p:cNvPr id="124" name="Rhombus">
              <a:extLst>
                <a:ext uri="{FF2B5EF4-FFF2-40B4-BE49-F238E27FC236}">
                  <a16:creationId xmlns:a16="http://schemas.microsoft.com/office/drawing/2014/main" id="{4CCFFCD1-7CF4-4BD6-4D18-89C8D7BF7F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968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33" name="Rhombus">
              <a:extLst>
                <a:ext uri="{FF2B5EF4-FFF2-40B4-BE49-F238E27FC236}">
                  <a16:creationId xmlns:a16="http://schemas.microsoft.com/office/drawing/2014/main" id="{3229C35B-A9D8-95C4-B164-CE52E8601F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536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34" name="Rhombus">
              <a:extLst>
                <a:ext uri="{FF2B5EF4-FFF2-40B4-BE49-F238E27FC236}">
                  <a16:creationId xmlns:a16="http://schemas.microsoft.com/office/drawing/2014/main" id="{44101C23-25EE-ABA6-9E7F-ECE5FD5AB0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320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36" name="Rhombus">
              <a:extLst>
                <a:ext uri="{FF2B5EF4-FFF2-40B4-BE49-F238E27FC236}">
                  <a16:creationId xmlns:a16="http://schemas.microsoft.com/office/drawing/2014/main" id="{B6A6C141-56A5-63D3-A32A-750A0B17C0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0968" y="1666833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37" name="Rhombus">
              <a:extLst>
                <a:ext uri="{FF2B5EF4-FFF2-40B4-BE49-F238E27FC236}">
                  <a16:creationId xmlns:a16="http://schemas.microsoft.com/office/drawing/2014/main" id="{C1A6FB17-99BB-1DBD-63E8-F4376998BA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1642" y="1623633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blipFill>
              <a:blip r:embed="rId7">
                <a:grayscl/>
              </a:blip>
              <a:stretch>
                <a:fillRect/>
              </a:stretch>
            </a:blipFill>
            <a:ln w="9525" cap="flat">
              <a:solidFill>
                <a:srgbClr val="000000">
                  <a:alpha val="72000"/>
                </a:srgbClr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6D0AA5A-EC71-22B6-E340-07942FCF44A8}"/>
              </a:ext>
            </a:extLst>
          </p:cNvPr>
          <p:cNvCxnSpPr>
            <a:cxnSpLocks/>
          </p:cNvCxnSpPr>
          <p:nvPr/>
        </p:nvCxnSpPr>
        <p:spPr>
          <a:xfrm>
            <a:off x="7552012" y="4347505"/>
            <a:ext cx="0" cy="230201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946BE350-42F5-D44E-7FBC-FC013D63DCA0}"/>
              </a:ext>
            </a:extLst>
          </p:cNvPr>
          <p:cNvCxnSpPr>
            <a:cxnSpLocks/>
          </p:cNvCxnSpPr>
          <p:nvPr/>
        </p:nvCxnSpPr>
        <p:spPr>
          <a:xfrm>
            <a:off x="8191508" y="3121200"/>
            <a:ext cx="524468" cy="400254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CAEDE03-A865-B66A-C11B-17E723C1F332}"/>
              </a:ext>
            </a:extLst>
          </p:cNvPr>
          <p:cNvGrpSpPr>
            <a:grpSpLocks noChangeAspect="1"/>
          </p:cNvGrpSpPr>
          <p:nvPr/>
        </p:nvGrpSpPr>
        <p:grpSpPr>
          <a:xfrm>
            <a:off x="7228012" y="4609708"/>
            <a:ext cx="648000" cy="476634"/>
            <a:chOff x="6980968" y="1623633"/>
            <a:chExt cx="1018593" cy="749223"/>
          </a:xfrm>
        </p:grpSpPr>
        <p:sp>
          <p:nvSpPr>
            <p:cNvPr id="170" name="Rhombus">
              <a:extLst>
                <a:ext uri="{FF2B5EF4-FFF2-40B4-BE49-F238E27FC236}">
                  <a16:creationId xmlns:a16="http://schemas.microsoft.com/office/drawing/2014/main" id="{49C3056E-87A9-CE40-AE3D-6F963B437F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968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71" name="Rhombus">
              <a:extLst>
                <a:ext uri="{FF2B5EF4-FFF2-40B4-BE49-F238E27FC236}">
                  <a16:creationId xmlns:a16="http://schemas.microsoft.com/office/drawing/2014/main" id="{5A2F347B-87E5-CC71-6C0E-74373B597D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536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72" name="Rhombus">
              <a:extLst>
                <a:ext uri="{FF2B5EF4-FFF2-40B4-BE49-F238E27FC236}">
                  <a16:creationId xmlns:a16="http://schemas.microsoft.com/office/drawing/2014/main" id="{C8990088-0371-B8D7-FCEC-A53511694D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320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73" name="Rhombus">
              <a:extLst>
                <a:ext uri="{FF2B5EF4-FFF2-40B4-BE49-F238E27FC236}">
                  <a16:creationId xmlns:a16="http://schemas.microsoft.com/office/drawing/2014/main" id="{CC80A718-9B0B-9232-9F2C-8482EFF4E2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0968" y="1666833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74" name="Rhombus">
              <a:extLst>
                <a:ext uri="{FF2B5EF4-FFF2-40B4-BE49-F238E27FC236}">
                  <a16:creationId xmlns:a16="http://schemas.microsoft.com/office/drawing/2014/main" id="{FBD04B90-1FB0-4780-DD83-8DF783450C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1642" y="1623633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blipFill>
              <a:blip r:embed="rId14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9525" cap="flat">
              <a:solidFill>
                <a:srgbClr val="000000">
                  <a:alpha val="72000"/>
                </a:srgbClr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2321152D-0F5C-9A7C-96F1-2E9D04478F2D}"/>
              </a:ext>
            </a:extLst>
          </p:cNvPr>
          <p:cNvCxnSpPr>
            <a:cxnSpLocks/>
          </p:cNvCxnSpPr>
          <p:nvPr/>
        </p:nvCxnSpPr>
        <p:spPr>
          <a:xfrm>
            <a:off x="7556812" y="5130194"/>
            <a:ext cx="0" cy="230201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D5912CDD-F6D8-B8F6-A5BF-DD7402649EE1}"/>
              </a:ext>
            </a:extLst>
          </p:cNvPr>
          <p:cNvSpPr txBox="1"/>
          <p:nvPr/>
        </p:nvSpPr>
        <p:spPr>
          <a:xfrm>
            <a:off x="4957259" y="5481405"/>
            <a:ext cx="212750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C7  </a:t>
            </a:r>
            <a:r>
              <a:rPr lang="en-CH" sz="900" dirty="0"/>
              <a:t>Global maps LAIe, FAPAR, FCOVER</a:t>
            </a:r>
          </a:p>
          <a:p>
            <a:pPr algn="ctr"/>
            <a:r>
              <a:rPr lang="en-CH" sz="900" i="1" dirty="0"/>
              <a:t>(mean, std, count)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5E12ACB-3000-8204-478B-7FB046196883}"/>
              </a:ext>
            </a:extLst>
          </p:cNvPr>
          <p:cNvSpPr txBox="1"/>
          <p:nvPr/>
        </p:nvSpPr>
        <p:spPr>
          <a:xfrm>
            <a:off x="6259380" y="4519081"/>
            <a:ext cx="12186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C5  </a:t>
            </a:r>
            <a:r>
              <a:rPr lang="en-US" sz="900" i="1" dirty="0"/>
              <a:t>Model prediction</a:t>
            </a:r>
            <a:endParaRPr lang="en-CH" sz="900" i="1" dirty="0"/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A01F9BD8-CD82-B488-42B5-C28DAF38D645}"/>
              </a:ext>
            </a:extLst>
          </p:cNvPr>
          <p:cNvGrpSpPr/>
          <p:nvPr/>
        </p:nvGrpSpPr>
        <p:grpSpPr>
          <a:xfrm>
            <a:off x="8387222" y="5548643"/>
            <a:ext cx="1293868" cy="304205"/>
            <a:chOff x="8346989" y="5795040"/>
            <a:chExt cx="1293868" cy="304205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DDA652A2-52F1-3452-D741-E9591355880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73366" y="5795719"/>
              <a:ext cx="268145" cy="199166"/>
              <a:chOff x="7307965" y="5801704"/>
              <a:chExt cx="1022748" cy="759650"/>
            </a:xfrm>
          </p:grpSpPr>
          <p:sp>
            <p:nvSpPr>
              <p:cNvPr id="181" name="Rhombus">
                <a:extLst>
                  <a:ext uri="{FF2B5EF4-FFF2-40B4-BE49-F238E27FC236}">
                    <a16:creationId xmlns:a16="http://schemas.microsoft.com/office/drawing/2014/main" id="{204277F7-ABC9-6D3A-3C59-4C1E634D46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3468" y="598535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82" name="Rhombus">
                <a:extLst>
                  <a:ext uri="{FF2B5EF4-FFF2-40B4-BE49-F238E27FC236}">
                    <a16:creationId xmlns:a16="http://schemas.microsoft.com/office/drawing/2014/main" id="{D10A262B-B305-8F63-A984-89BAC594CE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07965" y="589525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83" name="Rhombus">
                <a:extLst>
                  <a:ext uri="{FF2B5EF4-FFF2-40B4-BE49-F238E27FC236}">
                    <a16:creationId xmlns:a16="http://schemas.microsoft.com/office/drawing/2014/main" id="{2FF20A2D-6729-B7FA-4223-1602E99933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1142" y="580170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5220BBA-3ACA-1E69-050C-490A72B0935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267905" y="5795040"/>
              <a:ext cx="268145" cy="199166"/>
              <a:chOff x="7307965" y="5801704"/>
              <a:chExt cx="1022748" cy="759650"/>
            </a:xfrm>
          </p:grpSpPr>
          <p:sp>
            <p:nvSpPr>
              <p:cNvPr id="186" name="Rhombus">
                <a:extLst>
                  <a:ext uri="{FF2B5EF4-FFF2-40B4-BE49-F238E27FC236}">
                    <a16:creationId xmlns:a16="http://schemas.microsoft.com/office/drawing/2014/main" id="{23F9884E-7F07-DFCB-1CEB-3E212A182B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3468" y="598535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88" name="Rhombus">
                <a:extLst>
                  <a:ext uri="{FF2B5EF4-FFF2-40B4-BE49-F238E27FC236}">
                    <a16:creationId xmlns:a16="http://schemas.microsoft.com/office/drawing/2014/main" id="{4BACB141-4EE1-AC0A-A6AA-8C6B022331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07965" y="589525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89" name="Rhombus">
                <a:extLst>
                  <a:ext uri="{FF2B5EF4-FFF2-40B4-BE49-F238E27FC236}">
                    <a16:creationId xmlns:a16="http://schemas.microsoft.com/office/drawing/2014/main" id="{36494317-A1CE-EBCF-1859-B145FBB7D9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1142" y="580170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A374846B-F395-2169-2817-F11F336BA40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91712" y="5796687"/>
              <a:ext cx="268145" cy="199166"/>
              <a:chOff x="7307965" y="5801704"/>
              <a:chExt cx="1022748" cy="759650"/>
            </a:xfrm>
          </p:grpSpPr>
          <p:sp>
            <p:nvSpPr>
              <p:cNvPr id="191" name="Rhombus">
                <a:extLst>
                  <a:ext uri="{FF2B5EF4-FFF2-40B4-BE49-F238E27FC236}">
                    <a16:creationId xmlns:a16="http://schemas.microsoft.com/office/drawing/2014/main" id="{D45ACAB6-D077-BD81-3226-E09C70A0DA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3468" y="598535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92" name="Rhombus">
                <a:extLst>
                  <a:ext uri="{FF2B5EF4-FFF2-40B4-BE49-F238E27FC236}">
                    <a16:creationId xmlns:a16="http://schemas.microsoft.com/office/drawing/2014/main" id="{4AF00F9C-7E2B-5401-71A1-E9347B4969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07965" y="589525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95" name="Rhombus">
                <a:extLst>
                  <a:ext uri="{FF2B5EF4-FFF2-40B4-BE49-F238E27FC236}">
                    <a16:creationId xmlns:a16="http://schemas.microsoft.com/office/drawing/2014/main" id="{7B2F8CFB-E0AA-3AA0-E737-29C9040F49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1142" y="580170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690C1721-9B10-CA53-FEA5-8D2F25F0EE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683656" y="5796687"/>
              <a:ext cx="268145" cy="199166"/>
              <a:chOff x="7307965" y="5801704"/>
              <a:chExt cx="1022748" cy="759650"/>
            </a:xfrm>
          </p:grpSpPr>
          <p:sp>
            <p:nvSpPr>
              <p:cNvPr id="202" name="Rhombus">
                <a:extLst>
                  <a:ext uri="{FF2B5EF4-FFF2-40B4-BE49-F238E27FC236}">
                    <a16:creationId xmlns:a16="http://schemas.microsoft.com/office/drawing/2014/main" id="{58557BF8-D635-74E4-2373-84A4B15E4F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3468" y="598535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203" name="Rhombus">
                <a:extLst>
                  <a:ext uri="{FF2B5EF4-FFF2-40B4-BE49-F238E27FC236}">
                    <a16:creationId xmlns:a16="http://schemas.microsoft.com/office/drawing/2014/main" id="{0225B422-7203-4FE6-8359-43D7955801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07965" y="589525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204" name="Rhombus">
                <a:extLst>
                  <a:ext uri="{FF2B5EF4-FFF2-40B4-BE49-F238E27FC236}">
                    <a16:creationId xmlns:a16="http://schemas.microsoft.com/office/drawing/2014/main" id="{06D6A85C-5989-2C08-91CB-A06EF9466D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1142" y="580170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710D998E-B107-1B0A-7D42-AEDCC55DA465}"/>
                </a:ext>
              </a:extLst>
            </p:cNvPr>
            <p:cNvCxnSpPr>
              <a:cxnSpLocks/>
            </p:cNvCxnSpPr>
            <p:nvPr/>
          </p:nvCxnSpPr>
          <p:spPr>
            <a:xfrm>
              <a:off x="8346989" y="6099245"/>
              <a:ext cx="12938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3" name="TextBox 212">
            <a:extLst>
              <a:ext uri="{FF2B5EF4-FFF2-40B4-BE49-F238E27FC236}">
                <a16:creationId xmlns:a16="http://schemas.microsoft.com/office/drawing/2014/main" id="{00E2CAC4-1E66-F685-A90B-6FD7765AA974}"/>
              </a:ext>
            </a:extLst>
          </p:cNvPr>
          <p:cNvSpPr txBox="1"/>
          <p:nvPr/>
        </p:nvSpPr>
        <p:spPr>
          <a:xfrm>
            <a:off x="6111977" y="5120115"/>
            <a:ext cx="14574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C6  </a:t>
            </a:r>
            <a:r>
              <a:rPr lang="en-US" sz="900" i="1" dirty="0"/>
              <a:t>Aggregate predictions</a:t>
            </a:r>
            <a:endParaRPr lang="en-CH" sz="900" i="1" dirty="0"/>
          </a:p>
        </p:txBody>
      </p:sp>
    </p:spTree>
    <p:extLst>
      <p:ext uri="{BB962C8B-B14F-4D97-AF65-F5344CB8AC3E}">
        <p14:creationId xmlns:p14="http://schemas.microsoft.com/office/powerpoint/2010/main" val="1346179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Macintosh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PT Mono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specker</dc:creator>
  <cp:lastModifiedBy>felix specker</cp:lastModifiedBy>
  <cp:revision>1</cp:revision>
  <dcterms:created xsi:type="dcterms:W3CDTF">2026-02-04T13:58:02Z</dcterms:created>
  <dcterms:modified xsi:type="dcterms:W3CDTF">2026-02-04T13:58:30Z</dcterms:modified>
</cp:coreProperties>
</file>